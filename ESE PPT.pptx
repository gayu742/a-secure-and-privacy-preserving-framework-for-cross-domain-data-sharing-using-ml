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embeddedFontLst>
    <p:embeddedFont>
      <p:font typeface="Arial Narrow" panose="020B060602020203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0D3315C-5BBF-4F93-85FC-E1C3DE0A209C}">
  <a:tblStyle styleId="{B0D3315C-5BBF-4F93-85FC-E1C3DE0A209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F1E8"/>
          </a:solidFill>
        </a:fill>
      </a:tcStyle>
    </a:wholeTbl>
    <a:band1H>
      <a:tcTxStyle b="off" i="off"/>
      <a:tcStyle>
        <a:tcBdr/>
        <a:fill>
          <a:solidFill>
            <a:srgbClr val="D4E2CE"/>
          </a:solidFill>
        </a:fill>
      </a:tcStyle>
    </a:band1H>
    <a:band2H>
      <a:tcTxStyle b="off" i="off"/>
      <a:tcStyle>
        <a:tcBdr/>
      </a:tcStyle>
    </a:band2H>
    <a:band1V>
      <a:tcTxStyle b="off" i="off"/>
      <a:tcStyle>
        <a:tcBdr/>
        <a:fill>
          <a:solidFill>
            <a:srgbClr val="D4E2CE"/>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6"/>
          </a:solidFill>
        </a:fill>
      </a:tcStyle>
    </a:lastCol>
    <a:firstCol>
      <a:tcTxStyle b="on" i="off">
        <a:font>
          <a:latin typeface="Calibri"/>
          <a:ea typeface="Calibri"/>
          <a:cs typeface="Calibri"/>
        </a:font>
        <a:schemeClr val="lt1"/>
      </a:tcTxStyle>
      <a:tcStyle>
        <a:tcBdr/>
        <a:fill>
          <a:solidFill>
            <a:schemeClr val="accent6"/>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99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 name="Google Shape;1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d29cd15bd2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g3d29cd15bd2_0_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d29cd15bd2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g3d29cd15bd2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d29cd15bd2_0_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g3d29cd15bd2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d29cd15bd2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8" name="Google Shape;198;g3d29cd15bd2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8" name="Google Shape;20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8" name="Google Shape;28;p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0" name="Google Shape;30;p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4"/>
        <p:cNvGrpSpPr/>
        <p:nvPr/>
      </p:nvGrpSpPr>
      <p:grpSpPr>
        <a:xfrm>
          <a:off x="0" y="0"/>
          <a:ext cx="0" cy="0"/>
          <a:chOff x="0" y="0"/>
          <a:chExt cx="0" cy="0"/>
        </a:xfrm>
      </p:grpSpPr>
      <p:sp>
        <p:nvSpPr>
          <p:cNvPr id="35" name="Google Shape;35;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ieeexplore.ieee.org/document/10793114" TargetMode="External"/><Relationship Id="rId7" Type="http://schemas.openxmlformats.org/officeDocument/2006/relationships/hyperlink" Target="https://engrxiv.org/preprint/view/4177"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link.springer.com/article/10.1007/s11042-021-11751-w" TargetMode="External"/><Relationship Id="rId5" Type="http://schemas.openxmlformats.org/officeDocument/2006/relationships/hyperlink" Target="https://arxiv.org/abs/2305.16163" TargetMode="External"/><Relationship Id="rId4" Type="http://schemas.openxmlformats.org/officeDocument/2006/relationships/hyperlink" Target="https://ieeexplore.ieee.org/document/11116917"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body" idx="1"/>
          </p:nvPr>
        </p:nvSpPr>
        <p:spPr>
          <a:xfrm>
            <a:off x="0" y="2342250"/>
            <a:ext cx="12119100" cy="4194600"/>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90000"/>
              </a:lnSpc>
              <a:spcBef>
                <a:spcPts val="1000"/>
              </a:spcBef>
              <a:spcAft>
                <a:spcPts val="0"/>
              </a:spcAft>
              <a:buClr>
                <a:schemeClr val="dk1"/>
              </a:buClr>
              <a:buSzPts val="3600"/>
              <a:buNone/>
            </a:pPr>
            <a:r>
              <a:rPr lang="en-US" sz="3600" b="1" dirty="0">
                <a:latin typeface="Arial Narrow"/>
                <a:ea typeface="Arial Narrow"/>
                <a:cs typeface="Arial Narrow"/>
                <a:sym typeface="Arial Narrow"/>
              </a:rPr>
              <a:t>DEPARTMENT OF COMPUTER SCIENCE AND ENGINEERING</a:t>
            </a:r>
            <a:endParaRPr dirty="0">
              <a:latin typeface="Arial Narrow"/>
              <a:ea typeface="Arial Narrow"/>
              <a:cs typeface="Arial Narrow"/>
              <a:sym typeface="Arial Narrow"/>
            </a:endParaRPr>
          </a:p>
          <a:p>
            <a:pPr marL="0" lvl="0" indent="0" algn="ctr" rtl="0">
              <a:lnSpc>
                <a:spcPct val="90000"/>
              </a:lnSpc>
              <a:spcBef>
                <a:spcPts val="1000"/>
              </a:spcBef>
              <a:spcAft>
                <a:spcPts val="0"/>
              </a:spcAft>
              <a:buSzPts val="3600"/>
              <a:buNone/>
            </a:pPr>
            <a:r>
              <a:rPr lang="en-US" b="1" dirty="0">
                <a:latin typeface="Arial Narrow"/>
                <a:ea typeface="Arial Narrow"/>
                <a:cs typeface="Arial Narrow"/>
                <a:sym typeface="Arial Narrow"/>
              </a:rPr>
              <a:t>20CS8504 &amp; PROJECT WORK</a:t>
            </a:r>
            <a:endParaRPr b="1" dirty="0">
              <a:latin typeface="Arial Narrow"/>
              <a:ea typeface="Arial Narrow"/>
              <a:cs typeface="Arial Narrow"/>
              <a:sym typeface="Arial Narrow"/>
            </a:endParaRPr>
          </a:p>
          <a:p>
            <a:pPr marL="0" lvl="0" indent="0" algn="ctr" rtl="0">
              <a:lnSpc>
                <a:spcPct val="90000"/>
              </a:lnSpc>
              <a:spcBef>
                <a:spcPts val="1000"/>
              </a:spcBef>
              <a:spcAft>
                <a:spcPts val="0"/>
              </a:spcAft>
              <a:buSzPts val="3600"/>
              <a:buNone/>
            </a:pPr>
            <a:r>
              <a:rPr lang="en-US" b="1" dirty="0">
                <a:latin typeface="Arial Narrow"/>
                <a:ea typeface="Arial Narrow"/>
                <a:cs typeface="Arial Narrow"/>
                <a:sym typeface="Arial Narrow"/>
              </a:rPr>
              <a:t>END SEMESTER PRACTICAL EXAMINATION- APRIL / MAY – 2026</a:t>
            </a:r>
          </a:p>
          <a:p>
            <a:pPr marL="0" lvl="0" indent="0" algn="ctr" rtl="0">
              <a:lnSpc>
                <a:spcPct val="90000"/>
              </a:lnSpc>
              <a:spcBef>
                <a:spcPts val="1000"/>
              </a:spcBef>
              <a:spcAft>
                <a:spcPts val="0"/>
              </a:spcAft>
              <a:buSzPts val="3600"/>
              <a:buNone/>
            </a:pPr>
            <a:endParaRPr dirty="0">
              <a:latin typeface="Arial Narrow"/>
              <a:ea typeface="Arial Narrow"/>
              <a:cs typeface="Arial Narrow"/>
              <a:sym typeface="Arial Narrow"/>
            </a:endParaRPr>
          </a:p>
          <a:p>
            <a:pPr marL="0" lvl="0" indent="0" algn="l" rtl="0">
              <a:lnSpc>
                <a:spcPct val="150000"/>
              </a:lnSpc>
              <a:spcBef>
                <a:spcPts val="1000"/>
              </a:spcBef>
              <a:spcAft>
                <a:spcPts val="0"/>
              </a:spcAft>
              <a:buClr>
                <a:schemeClr val="dk1"/>
              </a:buClr>
              <a:buSzPts val="2400"/>
              <a:buNone/>
            </a:pPr>
            <a:r>
              <a:rPr lang="en-US" sz="2400" b="1" dirty="0">
                <a:latin typeface="Arial Narrow"/>
                <a:ea typeface="Arial Narrow"/>
                <a:cs typeface="Arial Narrow"/>
                <a:sym typeface="Arial Narrow"/>
              </a:rPr>
              <a:t>Batch No.:</a:t>
            </a:r>
            <a:r>
              <a:rPr lang="en-IN" sz="2400" b="1" dirty="0">
                <a:latin typeface="Arial Narrow"/>
                <a:ea typeface="Arial Narrow"/>
                <a:cs typeface="Arial Narrow"/>
                <a:sym typeface="Arial Narrow"/>
              </a:rPr>
              <a:t> 13</a:t>
            </a:r>
            <a:endParaRPr dirty="0">
              <a:latin typeface="Arial Narrow"/>
              <a:ea typeface="Arial Narrow"/>
              <a:cs typeface="Arial Narrow"/>
              <a:sym typeface="Arial Narrow"/>
            </a:endParaRPr>
          </a:p>
          <a:p>
            <a:pPr marL="0" lvl="0" indent="0" algn="l" rtl="0">
              <a:lnSpc>
                <a:spcPct val="150000"/>
              </a:lnSpc>
              <a:spcBef>
                <a:spcPts val="1000"/>
              </a:spcBef>
              <a:spcAft>
                <a:spcPts val="0"/>
              </a:spcAft>
              <a:buClr>
                <a:schemeClr val="dk1"/>
              </a:buClr>
              <a:buSzPts val="2400"/>
              <a:buNone/>
            </a:pPr>
            <a:r>
              <a:rPr lang="en-US" sz="2400" b="1" dirty="0">
                <a:latin typeface="Arial Narrow"/>
                <a:ea typeface="Arial Narrow"/>
                <a:cs typeface="Arial Narrow"/>
                <a:sym typeface="Arial Narrow"/>
              </a:rPr>
              <a:t>Date: 30/03/2026</a:t>
            </a:r>
            <a:endParaRPr dirty="0"/>
          </a:p>
          <a:p>
            <a:pPr marL="0" lvl="0" indent="0" algn="l" rtl="0">
              <a:lnSpc>
                <a:spcPct val="150000"/>
              </a:lnSpc>
              <a:spcBef>
                <a:spcPts val="1000"/>
              </a:spcBef>
              <a:spcAft>
                <a:spcPts val="0"/>
              </a:spcAft>
              <a:buClr>
                <a:schemeClr val="dk1"/>
              </a:buClr>
              <a:buSzPts val="2400"/>
              <a:buNone/>
            </a:pPr>
            <a:r>
              <a:rPr lang="en-US" sz="2400" b="1" dirty="0">
                <a:latin typeface="Arial Narrow"/>
                <a:ea typeface="Arial Narrow"/>
                <a:cs typeface="Arial Narrow"/>
                <a:sym typeface="Arial Narrow"/>
              </a:rPr>
              <a:t>Session: AN</a:t>
            </a:r>
            <a:endParaRPr b="1" dirty="0">
              <a:latin typeface="Arial Narrow"/>
              <a:ea typeface="Arial Narrow"/>
              <a:cs typeface="Arial Narrow"/>
              <a:sym typeface="Arial Narrow"/>
            </a:endParaRPr>
          </a:p>
        </p:txBody>
      </p:sp>
      <p:sp>
        <p:nvSpPr>
          <p:cNvPr id="89" name="Google Shape;8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latin typeface="Times New Roman"/>
                <a:ea typeface="Times New Roman"/>
                <a:cs typeface="Times New Roman"/>
                <a:sym typeface="Times New Roman"/>
              </a:rPr>
              <a:t>1</a:t>
            </a:fld>
            <a:endParaRPr b="1">
              <a:solidFill>
                <a:schemeClr val="dk1"/>
              </a:solidFill>
              <a:latin typeface="Times New Roman"/>
              <a:ea typeface="Times New Roman"/>
              <a:cs typeface="Times New Roman"/>
              <a:sym typeface="Times New Roman"/>
            </a:endParaRPr>
          </a:p>
        </p:txBody>
      </p:sp>
      <p:pic>
        <p:nvPicPr>
          <p:cNvPr id="90" name="Google Shape;90;p13"/>
          <p:cNvPicPr preferRelativeResize="0"/>
          <p:nvPr/>
        </p:nvPicPr>
        <p:blipFill rotWithShape="1">
          <a:blip r:embed="rId3">
            <a:alphaModFix/>
          </a:blip>
          <a:srcRect l="16357" r="14907" b="8148"/>
          <a:stretch/>
        </p:blipFill>
        <p:spPr>
          <a:xfrm>
            <a:off x="11215585" y="65332"/>
            <a:ext cx="903515" cy="511635"/>
          </a:xfrm>
          <a:prstGeom prst="rect">
            <a:avLst/>
          </a:prstGeom>
          <a:noFill/>
          <a:ln>
            <a:noFill/>
          </a:ln>
        </p:spPr>
      </p:pic>
      <p:pic>
        <p:nvPicPr>
          <p:cNvPr id="91" name="Google Shape;91;p13"/>
          <p:cNvPicPr preferRelativeResize="0"/>
          <p:nvPr/>
        </p:nvPicPr>
        <p:blipFill rotWithShape="1">
          <a:blip r:embed="rId4">
            <a:alphaModFix/>
          </a:blip>
          <a:srcRect/>
          <a:stretch/>
        </p:blipFill>
        <p:spPr>
          <a:xfrm>
            <a:off x="104932" y="0"/>
            <a:ext cx="5348811" cy="187359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body" idx="1"/>
          </p:nvPr>
        </p:nvSpPr>
        <p:spPr>
          <a:xfrm>
            <a:off x="157655" y="-1"/>
            <a:ext cx="11887200" cy="1639615"/>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1000"/>
              </a:spcBef>
              <a:spcAft>
                <a:spcPts val="0"/>
              </a:spcAft>
              <a:buClr>
                <a:schemeClr val="dk1"/>
              </a:buClr>
              <a:buSzPts val="3600"/>
              <a:buNone/>
            </a:pPr>
            <a:r>
              <a:rPr lang="en-US" sz="4400" b="1" dirty="0">
                <a:latin typeface="Times New Roman" panose="02020603050405020304" pitchFamily="18" charset="0"/>
                <a:ea typeface="Arial Narrow"/>
                <a:cs typeface="Times New Roman" panose="02020603050405020304" pitchFamily="18" charset="0"/>
                <a:sym typeface="Arial Narrow"/>
              </a:rPr>
              <a:t>A Secure And Privacy-Preserving Framework for Cross-Domain Data Sharing Using ML</a:t>
            </a:r>
          </a:p>
          <a:p>
            <a:pPr marL="0" lvl="0" indent="0" algn="ctr" rtl="0">
              <a:lnSpc>
                <a:spcPct val="150000"/>
              </a:lnSpc>
              <a:spcBef>
                <a:spcPts val="1000"/>
              </a:spcBef>
              <a:spcAft>
                <a:spcPts val="0"/>
              </a:spcAft>
              <a:buClr>
                <a:schemeClr val="dk1"/>
              </a:buClr>
              <a:buSzPts val="3600"/>
              <a:buNone/>
            </a:pPr>
            <a:endParaRPr lang="en-US" sz="3600" b="1" dirty="0">
              <a:latin typeface="Arial Narrow"/>
              <a:ea typeface="Arial Narrow"/>
              <a:cs typeface="Arial Narrow"/>
              <a:sym typeface="Arial Narrow"/>
            </a:endParaRPr>
          </a:p>
        </p:txBody>
      </p:sp>
      <p:sp>
        <p:nvSpPr>
          <p:cNvPr id="97" name="Google Shape;9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latin typeface="Times New Roman"/>
                <a:ea typeface="Times New Roman"/>
                <a:cs typeface="Times New Roman"/>
                <a:sym typeface="Times New Roman"/>
              </a:rPr>
              <a:t>2</a:t>
            </a:fld>
            <a:endParaRPr b="1">
              <a:solidFill>
                <a:schemeClr val="dk1"/>
              </a:solidFill>
              <a:latin typeface="Times New Roman"/>
              <a:ea typeface="Times New Roman"/>
              <a:cs typeface="Times New Roman"/>
              <a:sym typeface="Times New Roman"/>
            </a:endParaRPr>
          </a:p>
        </p:txBody>
      </p:sp>
      <p:sp>
        <p:nvSpPr>
          <p:cNvPr id="98" name="Google Shape;98;p14"/>
          <p:cNvSpPr txBox="1">
            <a:spLocks noGrp="1"/>
          </p:cNvSpPr>
          <p:nvPr>
            <p:ph type="body" idx="1"/>
          </p:nvPr>
        </p:nvSpPr>
        <p:spPr>
          <a:xfrm>
            <a:off x="399910" y="3814012"/>
            <a:ext cx="6016656" cy="2724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2400"/>
              <a:buNone/>
            </a:pPr>
            <a:r>
              <a:rPr lang="en-US" b="1" dirty="0">
                <a:latin typeface="Times New Roman" panose="02020603050405020304" pitchFamily="18" charset="0"/>
                <a:ea typeface="Arial Narrow"/>
                <a:cs typeface="Times New Roman" panose="02020603050405020304" pitchFamily="18" charset="0"/>
                <a:sym typeface="Arial Narrow"/>
              </a:rPr>
              <a:t>Guide Name:</a:t>
            </a:r>
          </a:p>
          <a:p>
            <a:pPr marL="0" indent="0">
              <a:buSzPts val="2400"/>
              <a:buNone/>
            </a:pPr>
            <a:r>
              <a:rPr lang="en-US" b="1" dirty="0" err="1">
                <a:latin typeface="Times New Roman" panose="02020603050405020304" pitchFamily="18" charset="0"/>
                <a:ea typeface="Times New Roman"/>
                <a:cs typeface="Times New Roman" panose="02020603050405020304" pitchFamily="18" charset="0"/>
                <a:sym typeface="Times New Roman"/>
              </a:rPr>
              <a:t>Mrs.A.Dhivya</a:t>
            </a:r>
            <a:r>
              <a:rPr lang="en-US" b="1" dirty="0">
                <a:latin typeface="Times New Roman" panose="02020603050405020304" pitchFamily="18" charset="0"/>
                <a:ea typeface="Times New Roman"/>
                <a:cs typeface="Times New Roman" panose="02020603050405020304" pitchFamily="18" charset="0"/>
                <a:sym typeface="Times New Roman"/>
              </a:rPr>
              <a:t> Bharathi, M.E.,(</a:t>
            </a:r>
            <a:r>
              <a:rPr lang="en-US" b="1" dirty="0" err="1">
                <a:latin typeface="Times New Roman" panose="02020603050405020304" pitchFamily="18" charset="0"/>
                <a:ea typeface="Times New Roman"/>
                <a:cs typeface="Times New Roman" panose="02020603050405020304" pitchFamily="18" charset="0"/>
                <a:sym typeface="Times New Roman"/>
              </a:rPr>
              <a:t>Ph,D</a:t>
            </a:r>
            <a:r>
              <a:rPr lang="en-US" b="1" dirty="0">
                <a:latin typeface="Times New Roman" panose="02020603050405020304" pitchFamily="18" charset="0"/>
                <a:ea typeface="Times New Roman"/>
                <a:cs typeface="Times New Roman" panose="02020603050405020304" pitchFamily="18" charset="0"/>
                <a:sym typeface="Times New Roman"/>
              </a:rPr>
              <a:t>.,)</a:t>
            </a:r>
          </a:p>
          <a:p>
            <a:pPr marL="0" lvl="0" indent="0" algn="l" rtl="0">
              <a:lnSpc>
                <a:spcPct val="90000"/>
              </a:lnSpc>
              <a:spcBef>
                <a:spcPts val="1000"/>
              </a:spcBef>
              <a:spcAft>
                <a:spcPts val="0"/>
              </a:spcAft>
              <a:buClr>
                <a:schemeClr val="dk1"/>
              </a:buClr>
              <a:buSzPts val="2400"/>
              <a:buNone/>
            </a:pPr>
            <a:endParaRPr lang="en-US" b="1" dirty="0">
              <a:latin typeface="Times New Roman" panose="02020603050405020304" pitchFamily="18" charset="0"/>
              <a:ea typeface="Arial Narrow"/>
              <a:cs typeface="Times New Roman" panose="02020603050405020304" pitchFamily="18" charset="0"/>
              <a:sym typeface="Arial Narrow"/>
            </a:endParaRPr>
          </a:p>
        </p:txBody>
      </p:sp>
      <p:sp>
        <p:nvSpPr>
          <p:cNvPr id="99" name="Google Shape;99;p14"/>
          <p:cNvSpPr txBox="1">
            <a:spLocks noGrp="1"/>
          </p:cNvSpPr>
          <p:nvPr>
            <p:ph type="body" idx="1"/>
          </p:nvPr>
        </p:nvSpPr>
        <p:spPr>
          <a:xfrm>
            <a:off x="6684580" y="3631450"/>
            <a:ext cx="5235926" cy="2724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2400"/>
              <a:buNone/>
            </a:pPr>
            <a:r>
              <a:rPr lang="en-US" b="1" dirty="0">
                <a:latin typeface="Times New Roman" panose="02020603050405020304" pitchFamily="18" charset="0"/>
                <a:ea typeface="Arial Narrow"/>
                <a:cs typeface="Times New Roman" panose="02020603050405020304" pitchFamily="18" charset="0"/>
                <a:sym typeface="Arial Narrow"/>
              </a:rPr>
              <a:t>Team Members:</a:t>
            </a:r>
          </a:p>
          <a:p>
            <a:pPr marL="0" lvl="0" indent="0">
              <a:buSzPts val="2400"/>
              <a:buNone/>
            </a:pPr>
            <a:r>
              <a:rPr lang="en-US" b="1" dirty="0">
                <a:latin typeface="Times New Roman" panose="02020603050405020304" pitchFamily="18" charset="0"/>
                <a:ea typeface="Times New Roman"/>
                <a:cs typeface="Times New Roman" panose="02020603050405020304" pitchFamily="18" charset="0"/>
                <a:sym typeface="Times New Roman"/>
              </a:rPr>
              <a:t>811722104028 - Devadharshini S</a:t>
            </a:r>
          </a:p>
          <a:p>
            <a:pPr marL="0" lvl="0" indent="0">
              <a:buSzPts val="2400"/>
              <a:buNone/>
            </a:pPr>
            <a:r>
              <a:rPr lang="en-US" b="1" dirty="0">
                <a:latin typeface="Times New Roman" panose="02020603050405020304" pitchFamily="18" charset="0"/>
                <a:ea typeface="Times New Roman"/>
                <a:cs typeface="Times New Roman" panose="02020603050405020304" pitchFamily="18" charset="0"/>
                <a:sym typeface="Times New Roman"/>
              </a:rPr>
              <a:t>811722104037 - Elakkiya A</a:t>
            </a:r>
          </a:p>
          <a:p>
            <a:pPr marL="0" lvl="0" indent="0">
              <a:buSzPts val="2400"/>
              <a:buNone/>
            </a:pPr>
            <a:r>
              <a:rPr lang="en-US" b="1" dirty="0">
                <a:latin typeface="Times New Roman" panose="02020603050405020304" pitchFamily="18" charset="0"/>
                <a:ea typeface="Times New Roman"/>
                <a:cs typeface="Times New Roman" panose="02020603050405020304" pitchFamily="18" charset="0"/>
                <a:sym typeface="Times New Roman"/>
              </a:rPr>
              <a:t>811722104042 - Gayathri M</a:t>
            </a:r>
          </a:p>
          <a:p>
            <a:pPr marL="0" lvl="0" indent="0" algn="l" rtl="0">
              <a:lnSpc>
                <a:spcPct val="90000"/>
              </a:lnSpc>
              <a:spcBef>
                <a:spcPts val="1000"/>
              </a:spcBef>
              <a:spcAft>
                <a:spcPts val="0"/>
              </a:spcAft>
              <a:buClr>
                <a:schemeClr val="dk1"/>
              </a:buClr>
              <a:buSzPts val="2400"/>
              <a:buNone/>
            </a:pPr>
            <a:endParaRPr lang="en-US" b="1" dirty="0">
              <a:latin typeface="Times New Roman" panose="02020603050405020304" pitchFamily="18" charset="0"/>
              <a:ea typeface="Arial Narrow"/>
              <a:cs typeface="Times New Roman" panose="02020603050405020304" pitchFamily="18" charset="0"/>
              <a:sym typeface="Arial Narrow"/>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5"/>
          <p:cNvSpPr txBox="1">
            <a:spLocks noGrp="1"/>
          </p:cNvSpPr>
          <p:nvPr>
            <p:ph type="title"/>
          </p:nvPr>
        </p:nvSpPr>
        <p:spPr>
          <a:xfrm>
            <a:off x="838200" y="0"/>
            <a:ext cx="10515600" cy="9495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Times New Roman" panose="02020603050405020304" pitchFamily="18" charset="0"/>
                <a:ea typeface="Arial Narrow"/>
                <a:cs typeface="Times New Roman" panose="02020603050405020304" pitchFamily="18" charset="0"/>
                <a:sym typeface="Arial Narrow"/>
              </a:rPr>
              <a:t>OBJECTIVE OF THE PROJECT</a:t>
            </a:r>
            <a:endParaRPr dirty="0">
              <a:latin typeface="Times New Roman" panose="02020603050405020304" pitchFamily="18" charset="0"/>
              <a:ea typeface="Arial Narrow"/>
              <a:cs typeface="Times New Roman" panose="02020603050405020304" pitchFamily="18" charset="0"/>
              <a:sym typeface="Arial Narrow"/>
            </a:endParaRPr>
          </a:p>
        </p:txBody>
      </p:sp>
      <p:sp>
        <p:nvSpPr>
          <p:cNvPr id="105" name="Google Shape;105;p15"/>
          <p:cNvSpPr txBox="1">
            <a:spLocks noGrp="1"/>
          </p:cNvSpPr>
          <p:nvPr>
            <p:ph type="body" idx="1"/>
          </p:nvPr>
        </p:nvSpPr>
        <p:spPr>
          <a:xfrm>
            <a:off x="838200" y="1198173"/>
            <a:ext cx="10515600" cy="4909503"/>
          </a:xfrm>
          <a:prstGeom prst="rect">
            <a:avLst/>
          </a:prstGeom>
          <a:noFill/>
          <a:ln>
            <a:noFill/>
          </a:ln>
        </p:spPr>
        <p:txBody>
          <a:bodyPr spcFirstLastPara="1" wrap="square" lIns="91425" tIns="45700" rIns="91425" bIns="45700" anchor="t" anchorCtr="0">
            <a:noAutofit/>
          </a:bodyPr>
          <a:lstStyle/>
          <a:p>
            <a:pPr marL="514350" lvl="0" indent="-514350" algn="just" eaLnBrk="0" fontAlgn="base" hangingPunct="0">
              <a:lnSpc>
                <a:spcPct val="16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To develop a secure encrypted messaging system for safe       </a:t>
            </a:r>
            <a:r>
              <a:rPr lang="en-IN" altLang="en-US" dirty="0">
                <a:solidFill>
                  <a:schemeClr val="tx1"/>
                </a:solidFill>
                <a:latin typeface="Times New Roman" panose="02020603050405020304" pitchFamily="18" charset="0"/>
                <a:cs typeface="Times New Roman" panose="02020603050405020304" pitchFamily="18" charset="0"/>
              </a:rPr>
              <a:t>               </a:t>
            </a:r>
            <a:r>
              <a:rPr lang="en-US" altLang="en-US" dirty="0">
                <a:solidFill>
                  <a:schemeClr val="tx1"/>
                </a:solidFill>
                <a:latin typeface="Times New Roman" panose="02020603050405020304" pitchFamily="18" charset="0"/>
                <a:cs typeface="Times New Roman" panose="02020603050405020304" pitchFamily="18" charset="0"/>
              </a:rPr>
              <a:t>communication.</a:t>
            </a:r>
          </a:p>
          <a:p>
            <a:pPr marL="514350" lvl="0" indent="-514350" algn="just" eaLnBrk="0" fontAlgn="base" hangingPunct="0">
              <a:lnSpc>
                <a:spcPct val="16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To implement user authentication through registration and login.</a:t>
            </a:r>
          </a:p>
          <a:p>
            <a:pPr marL="514350" lvl="0" indent="-514350" algn="just" eaLnBrk="0" fontAlgn="base" hangingPunct="0">
              <a:lnSpc>
                <a:spcPct val="16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To provide passkey-based decryption for accessing messages.</a:t>
            </a:r>
          </a:p>
          <a:p>
            <a:pPr marL="514350" lvl="0" indent="-514350" algn="just" eaLnBrk="0" fontAlgn="base" hangingPunct="0">
              <a:lnSpc>
                <a:spcPct val="16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To implement message request and acceptance to avoid spam   communication.</a:t>
            </a:r>
          </a:p>
          <a:p>
            <a:pPr marL="514350" lvl="0" indent="-514350" algn="just" eaLnBrk="0" fontAlgn="base" hangingPunct="0">
              <a:lnSpc>
                <a:spcPct val="16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To integrate Machine Learning for detecting suspicious activities.</a:t>
            </a:r>
          </a:p>
          <a:p>
            <a:pPr marL="342900" lvl="0" algn="just" eaLnBrk="0" fontAlgn="base" hangingPunct="0">
              <a:lnSpc>
                <a:spcPct val="160000"/>
              </a:lnSpc>
              <a:spcBef>
                <a:spcPct val="0"/>
              </a:spcBef>
              <a:spcAft>
                <a:spcPct val="0"/>
              </a:spcAft>
              <a:buClrTx/>
              <a:buSzTx/>
              <a:buFont typeface="+mj-lt"/>
              <a:buAutoNum type="arabicPeriod"/>
            </a:pPr>
            <a:endParaRPr lang="en-US" altLang="en-US" dirty="0">
              <a:solidFill>
                <a:schemeClr val="tx1"/>
              </a:solidFill>
              <a:latin typeface="Times New Roman" panose="02020603050405020304" pitchFamily="18" charset="0"/>
              <a:cs typeface="Times New Roman" panose="02020603050405020304" pitchFamily="18" charset="0"/>
            </a:endParaRPr>
          </a:p>
        </p:txBody>
      </p:sp>
      <p:sp>
        <p:nvSpPr>
          <p:cNvPr id="106" name="Google Shape;10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3</a:t>
            </a:fld>
            <a:endParaRPr b="1">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6"/>
          <p:cNvSpPr txBox="1">
            <a:spLocks noGrp="1"/>
          </p:cNvSpPr>
          <p:nvPr>
            <p:ph type="title"/>
          </p:nvPr>
        </p:nvSpPr>
        <p:spPr>
          <a:xfrm>
            <a:off x="0" y="0"/>
            <a:ext cx="12192000" cy="8100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Times New Roman" panose="02020603050405020304" pitchFamily="18" charset="0"/>
                <a:ea typeface="Arial Narrow"/>
                <a:cs typeface="Times New Roman" panose="02020603050405020304" pitchFamily="18" charset="0"/>
                <a:sym typeface="Arial Narrow"/>
              </a:rPr>
              <a:t>INTRODUCTION</a:t>
            </a:r>
            <a:endParaRPr dirty="0">
              <a:latin typeface="Times New Roman" panose="02020603050405020304" pitchFamily="18" charset="0"/>
              <a:ea typeface="Arial Narrow"/>
              <a:cs typeface="Times New Roman" panose="02020603050405020304" pitchFamily="18" charset="0"/>
              <a:sym typeface="Arial Narrow"/>
            </a:endParaRPr>
          </a:p>
        </p:txBody>
      </p:sp>
      <p:sp>
        <p:nvSpPr>
          <p:cNvPr id="112" name="Google Shape;112;p16"/>
          <p:cNvSpPr txBox="1">
            <a:spLocks noGrp="1"/>
          </p:cNvSpPr>
          <p:nvPr>
            <p:ph type="body" idx="1"/>
          </p:nvPr>
        </p:nvSpPr>
        <p:spPr>
          <a:xfrm>
            <a:off x="630621" y="809999"/>
            <a:ext cx="11114689" cy="5911475"/>
          </a:xfrm>
          <a:prstGeom prst="rect">
            <a:avLst/>
          </a:prstGeom>
          <a:noFill/>
          <a:ln>
            <a:noFill/>
          </a:ln>
        </p:spPr>
        <p:txBody>
          <a:bodyPr spcFirstLastPara="1" wrap="square" lIns="91425" tIns="45700" rIns="91425" bIns="45700" anchor="t" anchorCtr="0">
            <a:noAutofit/>
          </a:bodyPr>
          <a:lstStyle/>
          <a:p>
            <a:pPr marL="514350" lvl="0" indent="-514350" algn="just" eaLnBrk="0" fontAlgn="base" hangingPunct="0">
              <a:lnSpc>
                <a:spcPct val="150000"/>
              </a:lnSpc>
              <a:spcBef>
                <a:spcPct val="0"/>
              </a:spcBef>
              <a:spcAft>
                <a:spcPct val="0"/>
              </a:spcAft>
              <a:buClrTx/>
              <a:buSzTx/>
              <a:buAutoNum type="arabicPeriod"/>
            </a:pPr>
            <a:r>
              <a:rPr lang="en-US" altLang="en-US" sz="2600" dirty="0">
                <a:solidFill>
                  <a:schemeClr val="tx1"/>
                </a:solidFill>
                <a:latin typeface="Times New Roman" panose="02020603050405020304" pitchFamily="18" charset="0"/>
                <a:cs typeface="Times New Roman" panose="02020603050405020304" pitchFamily="18" charset="0"/>
              </a:rPr>
              <a:t>In today’s digital world, online communication has become an essential   part of daily life.</a:t>
            </a:r>
          </a:p>
          <a:p>
            <a:pPr marL="514350" indent="-514350" algn="just" eaLnBrk="0" fontAlgn="base" hangingPunct="0">
              <a:lnSpc>
                <a:spcPct val="150000"/>
              </a:lnSpc>
              <a:spcBef>
                <a:spcPct val="0"/>
              </a:spcBef>
              <a:spcAft>
                <a:spcPct val="0"/>
              </a:spcAft>
              <a:buClrTx/>
              <a:buSzTx/>
              <a:buFont typeface="Arial"/>
              <a:buAutoNum type="arabicPeriod"/>
            </a:pPr>
            <a:r>
              <a:rPr lang="en-US" altLang="en-US" sz="2600" dirty="0">
                <a:solidFill>
                  <a:schemeClr val="tx1"/>
                </a:solidFill>
                <a:latin typeface="Times New Roman" panose="02020603050405020304" pitchFamily="18" charset="0"/>
                <a:cs typeface="Times New Roman" panose="02020603050405020304" pitchFamily="18" charset="0"/>
              </a:rPr>
              <a:t>Messaging platforms are widely used for personal, educational, and professional communication.</a:t>
            </a:r>
          </a:p>
          <a:p>
            <a:pPr marL="514350" indent="-514350" algn="just" eaLnBrk="0" fontAlgn="base" hangingPunct="0">
              <a:lnSpc>
                <a:spcPct val="150000"/>
              </a:lnSpc>
              <a:spcBef>
                <a:spcPct val="0"/>
              </a:spcBef>
              <a:spcAft>
                <a:spcPct val="0"/>
              </a:spcAft>
              <a:buClrTx/>
              <a:buSzTx/>
              <a:buFont typeface="Arial"/>
              <a:buAutoNum type="arabicPeriod"/>
            </a:pPr>
            <a:r>
              <a:rPr lang="en-US" altLang="en-US" sz="2600" dirty="0">
                <a:solidFill>
                  <a:schemeClr val="tx1"/>
                </a:solidFill>
                <a:latin typeface="Times New Roman" panose="02020603050405020304" pitchFamily="18" charset="0"/>
                <a:cs typeface="Times New Roman" panose="02020603050405020304" pitchFamily="18" charset="0"/>
              </a:rPr>
              <a:t>However, many messaging systems face security risks such as data breaches and unauthorized access.</a:t>
            </a:r>
          </a:p>
          <a:p>
            <a:pPr marL="514350" indent="-514350" algn="just" eaLnBrk="0" fontAlgn="base" hangingPunct="0">
              <a:lnSpc>
                <a:spcPct val="150000"/>
              </a:lnSpc>
              <a:spcBef>
                <a:spcPct val="0"/>
              </a:spcBef>
              <a:spcAft>
                <a:spcPct val="0"/>
              </a:spcAft>
              <a:buClrTx/>
              <a:buSzTx/>
              <a:buFont typeface="Arial"/>
              <a:buAutoNum type="arabicPeriod"/>
            </a:pPr>
            <a:r>
              <a:rPr lang="en-US" altLang="en-US" sz="2600" dirty="0">
                <a:solidFill>
                  <a:schemeClr val="tx1"/>
                </a:solidFill>
                <a:latin typeface="Times New Roman" panose="02020603050405020304" pitchFamily="18" charset="0"/>
                <a:cs typeface="Times New Roman" panose="02020603050405020304" pitchFamily="18" charset="0"/>
              </a:rPr>
              <a:t>Sensitive information shared through messages can be intercepted or misused by attackers.</a:t>
            </a:r>
          </a:p>
          <a:p>
            <a:pPr marL="514350" indent="-514350" algn="just" eaLnBrk="0" fontAlgn="base" hangingPunct="0">
              <a:lnSpc>
                <a:spcPct val="150000"/>
              </a:lnSpc>
              <a:spcBef>
                <a:spcPct val="0"/>
              </a:spcBef>
              <a:spcAft>
                <a:spcPct val="0"/>
              </a:spcAft>
              <a:buClrTx/>
              <a:buSzTx/>
              <a:buFont typeface="Arial"/>
              <a:buAutoNum type="arabicPeriod"/>
            </a:pPr>
            <a:r>
              <a:rPr lang="en-US" altLang="en-US" sz="2600" dirty="0">
                <a:solidFill>
                  <a:schemeClr val="tx1"/>
                </a:solidFill>
                <a:latin typeface="Times New Roman" panose="02020603050405020304" pitchFamily="18" charset="0"/>
                <a:cs typeface="Times New Roman" panose="02020603050405020304" pitchFamily="18" charset="0"/>
              </a:rPr>
              <a:t>There is a need for a secure communication system that protects user privacy and data.</a:t>
            </a:r>
          </a:p>
          <a:p>
            <a:pPr marL="0" lvl="0" indent="0" algn="l" rtl="0">
              <a:lnSpc>
                <a:spcPct val="90000"/>
              </a:lnSpc>
              <a:spcBef>
                <a:spcPts val="0"/>
              </a:spcBef>
              <a:spcAft>
                <a:spcPts val="0"/>
              </a:spcAft>
              <a:buClr>
                <a:schemeClr val="dk1"/>
              </a:buClr>
              <a:buSzPts val="2800"/>
              <a:buNone/>
            </a:pPr>
            <a:endParaRPr lang="en-US" sz="2600" dirty="0">
              <a:latin typeface="Arial Narrow"/>
              <a:ea typeface="Arial Narrow"/>
              <a:cs typeface="Arial Narrow"/>
              <a:sym typeface="Arial Narrow"/>
            </a:endParaRPr>
          </a:p>
        </p:txBody>
      </p:sp>
      <p:sp>
        <p:nvSpPr>
          <p:cNvPr id="113" name="Google Shape;11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4</a:t>
            </a:fld>
            <a:endParaRPr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7"/>
          <p:cNvSpPr/>
          <p:nvPr/>
        </p:nvSpPr>
        <p:spPr>
          <a:xfrm>
            <a:off x="8753993" y="62420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endParaRPr sz="1200" b="0" i="0" u="none" strike="noStrike" cap="none">
              <a:solidFill>
                <a:srgbClr val="888888"/>
              </a:solidFill>
              <a:latin typeface="Calibri"/>
              <a:ea typeface="Calibri"/>
              <a:cs typeface="Calibri"/>
              <a:sym typeface="Calibri"/>
            </a:endParaRPr>
          </a:p>
        </p:txBody>
      </p:sp>
      <p:sp>
        <p:nvSpPr>
          <p:cNvPr id="119" name="Google Shape;11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5</a:t>
            </a:fld>
            <a:endParaRPr b="1">
              <a:solidFill>
                <a:schemeClr val="dk1"/>
              </a:solidFill>
            </a:endParaRPr>
          </a:p>
        </p:txBody>
      </p:sp>
      <p:sp>
        <p:nvSpPr>
          <p:cNvPr id="120" name="Google Shape;120;p17"/>
          <p:cNvSpPr/>
          <p:nvPr/>
        </p:nvSpPr>
        <p:spPr>
          <a:xfrm>
            <a:off x="68855" y="0"/>
            <a:ext cx="12054300" cy="708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n-US" sz="44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rPr>
              <a:t>LITERATURE</a:t>
            </a:r>
            <a:r>
              <a:rPr lang="en-US" sz="40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rPr>
              <a:t> </a:t>
            </a:r>
            <a:r>
              <a:rPr lang="en-US" sz="44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rPr>
              <a:t>SURVEY</a:t>
            </a:r>
            <a:endParaRPr sz="4400" b="0" i="0" u="none" strike="noStrike" cap="none" dirty="0">
              <a:solidFill>
                <a:srgbClr val="000000"/>
              </a:solidFill>
              <a:latin typeface="Times New Roman" panose="02020603050405020304" pitchFamily="18" charset="0"/>
              <a:ea typeface="Arial Narrow"/>
              <a:cs typeface="Times New Roman" panose="02020603050405020304" pitchFamily="18" charset="0"/>
              <a:sym typeface="Arial Narrow"/>
            </a:endParaRPr>
          </a:p>
        </p:txBody>
      </p:sp>
      <p:graphicFrame>
        <p:nvGraphicFramePr>
          <p:cNvPr id="121" name="Google Shape;121;p17"/>
          <p:cNvGraphicFramePr/>
          <p:nvPr>
            <p:extLst>
              <p:ext uri="{D42A27DB-BD31-4B8C-83A1-F6EECF244321}">
                <p14:modId xmlns:p14="http://schemas.microsoft.com/office/powerpoint/2010/main" val="2337192993"/>
              </p:ext>
            </p:extLst>
          </p:nvPr>
        </p:nvGraphicFramePr>
        <p:xfrm>
          <a:off x="65690" y="708000"/>
          <a:ext cx="12054300" cy="6568619"/>
        </p:xfrm>
        <a:graphic>
          <a:graphicData uri="http://schemas.openxmlformats.org/drawingml/2006/table">
            <a:tbl>
              <a:tblPr firstRow="1" bandRow="1">
                <a:noFill/>
                <a:tableStyleId>{B0D3315C-5BBF-4F93-85FC-E1C3DE0A209C}</a:tableStyleId>
              </a:tblPr>
              <a:tblGrid>
                <a:gridCol w="3111535">
                  <a:extLst>
                    <a:ext uri="{9D8B030D-6E8A-4147-A177-3AD203B41FA5}">
                      <a16:colId xmlns:a16="http://schemas.microsoft.com/office/drawing/2014/main" val="20000"/>
                    </a:ext>
                  </a:extLst>
                </a:gridCol>
                <a:gridCol w="2953828">
                  <a:extLst>
                    <a:ext uri="{9D8B030D-6E8A-4147-A177-3AD203B41FA5}">
                      <a16:colId xmlns:a16="http://schemas.microsoft.com/office/drawing/2014/main" val="20001"/>
                    </a:ext>
                  </a:extLst>
                </a:gridCol>
                <a:gridCol w="2953828">
                  <a:extLst>
                    <a:ext uri="{9D8B030D-6E8A-4147-A177-3AD203B41FA5}">
                      <a16:colId xmlns:a16="http://schemas.microsoft.com/office/drawing/2014/main" val="20002"/>
                    </a:ext>
                  </a:extLst>
                </a:gridCol>
                <a:gridCol w="3035109">
                  <a:extLst>
                    <a:ext uri="{9D8B030D-6E8A-4147-A177-3AD203B41FA5}">
                      <a16:colId xmlns:a16="http://schemas.microsoft.com/office/drawing/2014/main" val="20003"/>
                    </a:ext>
                  </a:extLst>
                </a:gridCol>
              </a:tblGrid>
              <a:tr h="425355">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rPr>
                        <a:t>TITLE OF PAPER</a:t>
                      </a:r>
                      <a:endParaRPr sz="24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chemeClr val="dk1"/>
                          </a:solidFill>
                          <a:latin typeface="Times New Roman" panose="02020603050405020304" pitchFamily="18" charset="0"/>
                          <a:ea typeface="Arial Narrow"/>
                          <a:cs typeface="Times New Roman" panose="02020603050405020304" pitchFamily="18" charset="0"/>
                          <a:sym typeface="Arial Narrow"/>
                        </a:rPr>
                        <a:t>AUTHOR(S)</a:t>
                      </a:r>
                      <a:endParaRPr sz="2400" u="none" strike="noStrike" cap="none">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chemeClr val="dk1"/>
                          </a:solidFill>
                          <a:latin typeface="Times New Roman" panose="02020603050405020304" pitchFamily="18" charset="0"/>
                          <a:ea typeface="Arial Narrow"/>
                          <a:cs typeface="Times New Roman" panose="02020603050405020304" pitchFamily="18" charset="0"/>
                          <a:sym typeface="Arial Narrow"/>
                        </a:rPr>
                        <a:t>PAPER GIST</a:t>
                      </a:r>
                      <a:endParaRPr sz="2400" u="none" strike="noStrike" cap="none">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u="none" strike="noStrike" cap="none">
                          <a:solidFill>
                            <a:schemeClr val="dk1"/>
                          </a:solidFill>
                          <a:latin typeface="Times New Roman" panose="02020603050405020304" pitchFamily="18" charset="0"/>
                          <a:ea typeface="Arial Narrow"/>
                          <a:cs typeface="Times New Roman" panose="02020603050405020304" pitchFamily="18" charset="0"/>
                          <a:sym typeface="Arial Narrow"/>
                        </a:rPr>
                        <a:t>TECHNOLOGY USED</a:t>
                      </a:r>
                      <a:endParaRPr sz="2400" u="none" strike="noStrike" cap="none">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extLst>
                  <a:ext uri="{0D108BD9-81ED-4DB2-BD59-A6C34878D82A}">
                    <a16:rowId xmlns:a16="http://schemas.microsoft.com/office/drawing/2014/main" val="10000"/>
                  </a:ext>
                </a:extLst>
              </a:tr>
              <a:tr h="850701">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hlinkClick r:id="rId3"/>
                        </a:rPr>
                        <a:t>Privacy Passport: Privacy-Preserving Cross-Domain Data Sharing</a:t>
                      </a:r>
                      <a:endParaRPr lang="en-US"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IN"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rPr>
                        <a:t>Xue Chen, Cheng Wang, Qing Yang, Teng Hu, </a:t>
                      </a:r>
                      <a:r>
                        <a:rPr lang="en-IN" sz="1600" b="0" u="none" strike="noStrike" cap="none" spc="0" dirty="0" err="1">
                          <a:solidFill>
                            <a:schemeClr val="tx1"/>
                          </a:solidFill>
                          <a:effectLst/>
                          <a:latin typeface="Times New Roman" panose="02020603050405020304" pitchFamily="18" charset="0"/>
                          <a:cs typeface="Times New Roman" panose="02020603050405020304" pitchFamily="18" charset="0"/>
                          <a:sym typeface="Arial"/>
                        </a:rPr>
                        <a:t>Changjun</a:t>
                      </a:r>
                      <a:r>
                        <a:rPr lang="en-IN"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rPr>
                        <a:t> Jiang</a:t>
                      </a:r>
                      <a:endParaRPr lang="en-IN" sz="1600" b="0" cap="none" spc="0" dirty="0">
                        <a:solidFill>
                          <a:schemeClr val="tx1"/>
                        </a:solidFill>
                        <a:latin typeface="Times New Roman" panose="02020603050405020304" pitchFamily="18" charset="0"/>
                        <a:cs typeface="Times New Roman" panose="02020603050405020304" pitchFamily="18" charset="0"/>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rPr>
                        <a:t>IEEE Transactions on Information Forensics and Security, 2025</a:t>
                      </a: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cap="none" spc="0" dirty="0">
                          <a:solidFill>
                            <a:schemeClr val="tx1"/>
                          </a:solidFill>
                          <a:latin typeface="Times New Roman" panose="02020603050405020304" pitchFamily="18" charset="0"/>
                          <a:cs typeface="Times New Roman" panose="02020603050405020304" pitchFamily="18" charset="0"/>
                        </a:rPr>
                        <a:t>Attribute-Based Access Control ,Cryptographic policy translation</a:t>
                      </a:r>
                      <a:endParaRPr lang="en-US" sz="1600" u="none" strike="noStrike" cap="none" spc="0" dirty="0">
                        <a:solidFill>
                          <a:schemeClr val="dk1"/>
                        </a:solidFill>
                        <a:latin typeface="Times New Roman" panose="02020603050405020304" pitchFamily="18" charset="0"/>
                        <a:cs typeface="Times New Roman" panose="02020603050405020304" pitchFamily="18" charset="0"/>
                        <a:sym typeface="Arial Narrow"/>
                      </a:endParaRPr>
                    </a:p>
                  </a:txBody>
                  <a:tcPr marL="91450" marR="91450" marT="45725" marB="45725"/>
                </a:tc>
                <a:extLst>
                  <a:ext uri="{0D108BD9-81ED-4DB2-BD59-A6C34878D82A}">
                    <a16:rowId xmlns:a16="http://schemas.microsoft.com/office/drawing/2014/main" val="10001"/>
                  </a:ext>
                </a:extLst>
              </a:tr>
              <a:tr h="1361115">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hlinkClick r:id="rId4"/>
                        </a:rPr>
                        <a:t>Federated Learning for Cross-Domain Data Privacy: A Distributed Approach to Secure Collaboration</a:t>
                      </a:r>
                      <a:endParaRPr lang="en-US"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Yiwei Zhang, Jie Liu, Jiawei Wang, Lu Dai, Fan Guo,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Guohui</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 Cai</a:t>
                      </a:r>
                      <a:endParaRPr kumimoji="0" lang="de-DE"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IN" sz="1600" b="0" u="none" strike="noStrike" cap="none" spc="0" dirty="0" err="1">
                          <a:solidFill>
                            <a:schemeClr val="tx1"/>
                          </a:solidFill>
                          <a:effectLst/>
                          <a:latin typeface="Times New Roman" panose="02020603050405020304" pitchFamily="18" charset="0"/>
                          <a:cs typeface="Times New Roman" panose="02020603050405020304" pitchFamily="18" charset="0"/>
                          <a:sym typeface="Arial"/>
                        </a:rPr>
                        <a:t>arXiv</a:t>
                      </a:r>
                      <a:r>
                        <a:rPr lang="en-IN"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rPr>
                        <a:t>, 2025</a:t>
                      </a:r>
                      <a:endParaRPr lang="en-IN" sz="1600" b="0" i="0" cap="none" spc="0"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Federated Learning (FL) ,Secure aggregation protocols ,Local model training </a:t>
                      </a:r>
                      <a:endParaRPr lang="en-US"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extLst>
                  <a:ext uri="{0D108BD9-81ED-4DB2-BD59-A6C34878D82A}">
                    <a16:rowId xmlns:a16="http://schemas.microsoft.com/office/drawing/2014/main" val="10002"/>
                  </a:ext>
                </a:extLst>
              </a:tr>
              <a:tr h="1361115">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b="0" u="none" strike="noStrike" cap="none" spc="0" dirty="0" err="1">
                          <a:solidFill>
                            <a:schemeClr val="tx1"/>
                          </a:solidFill>
                          <a:effectLst/>
                          <a:latin typeface="Times New Roman" panose="02020603050405020304" pitchFamily="18" charset="0"/>
                          <a:cs typeface="Times New Roman" panose="02020603050405020304" pitchFamily="18" charset="0"/>
                          <a:sym typeface="Arial"/>
                        </a:rPr>
                        <a:t>PPGenCDR</a:t>
                      </a:r>
                      <a:r>
                        <a:rPr lang="en-US"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hlinkClick r:id="rId5"/>
                        </a:rPr>
                        <a:t>: A Stable and Robust Framework for Privacy-Preserving Cross-Domain Recommendation</a:t>
                      </a:r>
                      <a:endParaRPr lang="en-US" sz="1600" b="0" i="0" u="none" strike="noStrike" cap="none" spc="0" dirty="0">
                        <a:solidFill>
                          <a:schemeClr val="tx1"/>
                        </a:solidFill>
                        <a:effectLst/>
                        <a:latin typeface="Times New Roman" panose="02020603050405020304" pitchFamily="18" charset="0"/>
                        <a:ea typeface="Calibri"/>
                        <a:cs typeface="Times New Roman" panose="02020603050405020304" pitchFamily="18" charset="0"/>
                        <a:sym typeface="Arial"/>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Xinting Liao, Weiming Liu, Xiaolin Zheng,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Binhui</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 Yao, </a:t>
                      </a:r>
                      <a:r>
                        <a:rPr kumimoji="0" lang="en-IN" sz="1600" b="0" i="0" u="none" strike="noStrike" kern="0" cap="none" spc="0" normalizeH="0" baseline="0" noProof="0" dirty="0" err="1">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Chaochao</a:t>
                      </a: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 Chen</a:t>
                      </a:r>
                      <a:endParaRPr kumimoji="0" lang="da-DK"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IN" sz="1600" b="0" u="none" strike="noStrike" cap="none" spc="0" dirty="0" err="1">
                          <a:solidFill>
                            <a:schemeClr val="tx1"/>
                          </a:solidFill>
                          <a:effectLst/>
                          <a:latin typeface="Times New Roman" panose="02020603050405020304" pitchFamily="18" charset="0"/>
                          <a:cs typeface="Times New Roman" panose="02020603050405020304" pitchFamily="18" charset="0"/>
                          <a:sym typeface="Arial"/>
                        </a:rPr>
                        <a:t>arXiv</a:t>
                      </a:r>
                      <a:r>
                        <a:rPr lang="en-IN"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rPr>
                        <a:t>, 2023</a:t>
                      </a:r>
                      <a:endParaRPr lang="en-IN" sz="1600" b="0" i="0" cap="none" spc="0"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Generative Adversarial Networks , Differential Privacy ,Cross-domain representation learning.</a:t>
                      </a:r>
                      <a:endParaRPr lang="en-US"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extLst>
                  <a:ext uri="{0D108BD9-81ED-4DB2-BD59-A6C34878D82A}">
                    <a16:rowId xmlns:a16="http://schemas.microsoft.com/office/drawing/2014/main" val="10003"/>
                  </a:ext>
                </a:extLst>
              </a:tr>
              <a:tr h="1105908">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hlinkClick r:id="rId6"/>
                        </a:rPr>
                        <a:t>A Privacy-Preserving Model based on Differential Approach for Sensitive Data in Cloud Environment</a:t>
                      </a:r>
                      <a:endParaRPr lang="en-US" sz="1600" b="0" i="0" u="none" strike="noStrike" cap="none" spc="0" dirty="0">
                        <a:solidFill>
                          <a:schemeClr val="tx1"/>
                        </a:solidFill>
                        <a:effectLst/>
                        <a:latin typeface="Times New Roman" panose="02020603050405020304" pitchFamily="18" charset="0"/>
                        <a:ea typeface="Calibri"/>
                        <a:cs typeface="Times New Roman" panose="02020603050405020304" pitchFamily="18" charset="0"/>
                        <a:sym typeface="Arial"/>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Ashutosh Kumar Singh &amp; Rishabh Gupta</a:t>
                      </a: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IN" sz="1600" b="0" u="none" strike="noStrike" cap="none" spc="0" dirty="0" err="1">
                          <a:solidFill>
                            <a:schemeClr val="tx1"/>
                          </a:solidFill>
                          <a:effectLst/>
                          <a:latin typeface="Times New Roman" panose="02020603050405020304" pitchFamily="18" charset="0"/>
                          <a:cs typeface="Times New Roman" panose="02020603050405020304" pitchFamily="18" charset="0"/>
                          <a:sym typeface="Arial"/>
                        </a:rPr>
                        <a:t>arXiv</a:t>
                      </a:r>
                      <a:r>
                        <a:rPr lang="en-IN"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rPr>
                        <a:t>, 2022</a:t>
                      </a:r>
                      <a:endParaRPr lang="en-US" sz="1600" b="0" i="0" cap="none" spc="0"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Differential Privacy (Laplace &amp; Gaussian noise mechanisms).</a:t>
                      </a:r>
                      <a:endParaRPr lang="en-US"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extLst>
                  <a:ext uri="{0D108BD9-81ED-4DB2-BD59-A6C34878D82A}">
                    <a16:rowId xmlns:a16="http://schemas.microsoft.com/office/drawing/2014/main" val="10005"/>
                  </a:ext>
                </a:extLst>
              </a:tr>
              <a:tr h="402993">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US"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hlinkClick r:id="rId7"/>
                        </a:rPr>
                        <a:t>Federated Learning for Privacy-Preserving AI: Revolutionizing Data Sharing Across Industries</a:t>
                      </a:r>
                      <a:endParaRPr lang="en-US" sz="1600" b="0" i="0" u="none" strike="noStrike" cap="none" spc="0" dirty="0">
                        <a:solidFill>
                          <a:schemeClr val="tx1"/>
                        </a:solidFill>
                        <a:effectLst/>
                        <a:latin typeface="Times New Roman" panose="02020603050405020304" pitchFamily="18" charset="0"/>
                        <a:ea typeface="Calibri"/>
                        <a:cs typeface="Times New Roman" panose="02020603050405020304" pitchFamily="18" charset="0"/>
                        <a:sym typeface="Arial"/>
                      </a:endParaRPr>
                    </a:p>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endParaRPr lang="en-US" sz="1600" b="0" i="0" u="none" strike="noStrike" cap="none" spc="0" dirty="0">
                        <a:solidFill>
                          <a:schemeClr val="tx1"/>
                        </a:solidFill>
                        <a:effectLst/>
                        <a:latin typeface="Times New Roman" panose="02020603050405020304" pitchFamily="18" charset="0"/>
                        <a:ea typeface="Calibri"/>
                        <a:cs typeface="Times New Roman" panose="02020603050405020304" pitchFamily="18" charset="0"/>
                        <a:sym typeface="Arial"/>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Sharathchandra Patil , K Sai Geethanjali , Nidhi Umashankar </a:t>
                      </a:r>
                      <a:endParaRPr kumimoji="0" lang="en-IN"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lang="en-IN" sz="1600" b="0" u="none" strike="noStrike" cap="none" spc="0" dirty="0">
                          <a:solidFill>
                            <a:schemeClr val="tx1"/>
                          </a:solidFill>
                          <a:effectLst/>
                          <a:latin typeface="Times New Roman" panose="02020603050405020304" pitchFamily="18" charset="0"/>
                          <a:cs typeface="Times New Roman" panose="02020603050405020304" pitchFamily="18" charset="0"/>
                          <a:sym typeface="Arial"/>
                        </a:rPr>
                        <a:t>AAMAS 2019 </a:t>
                      </a:r>
                      <a:endParaRPr lang="en-IN" sz="1600" b="0" i="0" cap="none" spc="0" dirty="0">
                        <a:solidFill>
                          <a:schemeClr val="tx1"/>
                        </a:solidFill>
                        <a:latin typeface="Times New Roman" panose="02020603050405020304" pitchFamily="18" charset="0"/>
                        <a:cs typeface="Times New Roman" panose="02020603050405020304" pitchFamily="18" charset="0"/>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tc>
                  <a:txBody>
                    <a:bodyPr/>
                    <a:lstStyle/>
                    <a:p>
                      <a:pPr marL="0" marR="0" lvl="0" indent="0" algn="ctr" defTabSz="914400" rtl="0" eaLnBrk="1" fontAlgn="auto" latinLnBrk="0" hangingPunct="1">
                        <a:lnSpc>
                          <a:spcPct val="100000"/>
                        </a:lnSpc>
                        <a:spcBef>
                          <a:spcPts val="0"/>
                        </a:spcBef>
                        <a:spcAft>
                          <a:spcPts val="0"/>
                        </a:spcAft>
                        <a:buClr>
                          <a:srgbClr val="000000"/>
                        </a:buClr>
                        <a:buSzPts val="2400"/>
                        <a:buFont typeface="Arial"/>
                        <a:buNone/>
                        <a:tabLst/>
                        <a:defRPr/>
                      </a:pPr>
                      <a:r>
                        <a:rPr kumimoji="0" lang="en-US" sz="1600" b="0" i="0" u="none" strike="noStrike" kern="0" cap="none" spc="0" normalizeH="0" baseline="0" noProof="0" dirty="0">
                          <a:ln>
                            <a:noFill/>
                          </a:ln>
                          <a:solidFill>
                            <a:srgbClr val="000000"/>
                          </a:solidFill>
                          <a:effectLst/>
                          <a:uLnTx/>
                          <a:uFillTx/>
                          <a:latin typeface="Times New Roman" panose="02020603050405020304" pitchFamily="18" charset="0"/>
                          <a:ea typeface="Calibri"/>
                          <a:cs typeface="Times New Roman" panose="02020603050405020304" pitchFamily="18" charset="0"/>
                          <a:sym typeface="Arial"/>
                        </a:rPr>
                        <a:t>Secure Multi-Party Computation, Federated optimization, Distributed Constraint.</a:t>
                      </a:r>
                      <a:endParaRPr lang="en-US"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p>
                      <a:pPr marL="0" marR="0" lvl="0" indent="0" algn="ctr" rtl="0">
                        <a:lnSpc>
                          <a:spcPct val="100000"/>
                        </a:lnSpc>
                        <a:spcBef>
                          <a:spcPts val="0"/>
                        </a:spcBef>
                        <a:spcAft>
                          <a:spcPts val="0"/>
                        </a:spcAft>
                        <a:buClr>
                          <a:srgbClr val="000000"/>
                        </a:buClr>
                        <a:buSzPts val="2400"/>
                        <a:buFont typeface="Arial"/>
                        <a:buNone/>
                      </a:pPr>
                      <a:endParaRPr sz="160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a:txBody>
                  <a:tcPr marL="91450" marR="91450" marT="45725" marB="45725"/>
                </a:tc>
                <a:extLst>
                  <a:ext uri="{0D108BD9-81ED-4DB2-BD59-A6C34878D82A}">
                    <a16:rowId xmlns:a16="http://schemas.microsoft.com/office/drawing/2014/main" val="319847332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6</a:t>
            </a:fld>
            <a:endParaRPr b="1">
              <a:solidFill>
                <a:schemeClr val="dk1"/>
              </a:solidFill>
            </a:endParaRPr>
          </a:p>
        </p:txBody>
      </p:sp>
      <p:sp>
        <p:nvSpPr>
          <p:cNvPr id="127" name="Google Shape;127;p18"/>
          <p:cNvSpPr txBox="1"/>
          <p:nvPr/>
        </p:nvSpPr>
        <p:spPr>
          <a:xfrm>
            <a:off x="-1" y="0"/>
            <a:ext cx="12345600"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44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rPr>
              <a:t>EXISTING SYSTEM ARCHITECTURE</a:t>
            </a:r>
            <a:endParaRPr sz="44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p:txBody>
      </p:sp>
      <p:pic>
        <p:nvPicPr>
          <p:cNvPr id="2" name="Picture 1">
            <a:extLst>
              <a:ext uri="{FF2B5EF4-FFF2-40B4-BE49-F238E27FC236}">
                <a16:creationId xmlns:a16="http://schemas.microsoft.com/office/drawing/2014/main" id="{FA39AC83-C81E-90FD-2770-FCFFE9CA71B2}"/>
              </a:ext>
            </a:extLst>
          </p:cNvPr>
          <p:cNvPicPr>
            <a:picLocks noChangeAspect="1"/>
          </p:cNvPicPr>
          <p:nvPr/>
        </p:nvPicPr>
        <p:blipFill>
          <a:blip r:embed="rId3"/>
          <a:stretch>
            <a:fillRect/>
          </a:stretch>
        </p:blipFill>
        <p:spPr>
          <a:xfrm>
            <a:off x="1145627" y="1390097"/>
            <a:ext cx="9900745" cy="44116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7</a:t>
            </a:fld>
            <a:endParaRPr b="1">
              <a:solidFill>
                <a:schemeClr val="dk1"/>
              </a:solidFill>
            </a:endParaRPr>
          </a:p>
        </p:txBody>
      </p:sp>
      <p:sp>
        <p:nvSpPr>
          <p:cNvPr id="133" name="Google Shape;133;p19"/>
          <p:cNvSpPr txBox="1"/>
          <p:nvPr/>
        </p:nvSpPr>
        <p:spPr>
          <a:xfrm>
            <a:off x="-1" y="0"/>
            <a:ext cx="12345600"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44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rPr>
              <a:t>PROBLEM IDENTIFI</a:t>
            </a:r>
            <a:r>
              <a:rPr lang="en-US" sz="4400" b="1" dirty="0">
                <a:solidFill>
                  <a:schemeClr val="dk1"/>
                </a:solidFill>
                <a:latin typeface="Times New Roman" panose="02020603050405020304" pitchFamily="18" charset="0"/>
                <a:ea typeface="Arial Narrow"/>
                <a:cs typeface="Times New Roman" panose="02020603050405020304" pitchFamily="18" charset="0"/>
                <a:sym typeface="Arial Narrow"/>
              </a:rPr>
              <a:t>ED</a:t>
            </a:r>
            <a:endParaRPr sz="44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p:txBody>
      </p:sp>
      <p:sp>
        <p:nvSpPr>
          <p:cNvPr id="134" name="Google Shape;134;p19"/>
          <p:cNvSpPr txBox="1"/>
          <p:nvPr/>
        </p:nvSpPr>
        <p:spPr>
          <a:xfrm>
            <a:off x="702129" y="1615087"/>
            <a:ext cx="9387802" cy="3323946"/>
          </a:xfrm>
          <a:prstGeom prst="rect">
            <a:avLst/>
          </a:prstGeom>
          <a:noFill/>
          <a:ln>
            <a:noFill/>
          </a:ln>
        </p:spPr>
        <p:txBody>
          <a:bodyPr spcFirstLastPara="1" wrap="square" lIns="91425" tIns="45700" rIns="91425" bIns="45700" anchor="t" anchorCtr="0">
            <a:spAutoFit/>
          </a:bodyPr>
          <a:lstStyle/>
          <a:p>
            <a:pPr marL="514350" lvl="0" indent="-514350">
              <a:lnSpc>
                <a:spcPct val="150000"/>
              </a:lnSpc>
              <a:buClr>
                <a:schemeClr val="dk1"/>
              </a:buClr>
              <a:buSzPts val="2800"/>
              <a:buFont typeface="+mj-lt"/>
              <a:buAutoNum type="arabicPeriod"/>
            </a:pPr>
            <a:r>
              <a:rPr lang="en-US" sz="2800" dirty="0">
                <a:latin typeface="Times New Roman" panose="02020603050405020304" pitchFamily="18" charset="0"/>
                <a:cs typeface="Times New Roman" panose="02020603050405020304" pitchFamily="18" charset="0"/>
              </a:rPr>
              <a:t>Messages may be stored directly in databases</a:t>
            </a:r>
          </a:p>
          <a:p>
            <a:pPr marL="514350" lvl="0" indent="-514350">
              <a:lnSpc>
                <a:spcPct val="150000"/>
              </a:lnSpc>
              <a:buClr>
                <a:schemeClr val="dk1"/>
              </a:buClr>
              <a:buSzPts val="2800"/>
              <a:buFont typeface="+mj-lt"/>
              <a:buAutoNum type="arabicPeriod"/>
            </a:pPr>
            <a:r>
              <a:rPr lang="en-US" sz="2800" dirty="0">
                <a:latin typeface="Times New Roman" panose="02020603050405020304" pitchFamily="18" charset="0"/>
                <a:cs typeface="Times New Roman" panose="02020603050405020304" pitchFamily="18" charset="0"/>
              </a:rPr>
              <a:t>Unauthorized users may intercept messages</a:t>
            </a:r>
          </a:p>
          <a:p>
            <a:pPr marL="514350" lvl="0" indent="-514350">
              <a:lnSpc>
                <a:spcPct val="150000"/>
              </a:lnSpc>
              <a:buClr>
                <a:schemeClr val="dk1"/>
              </a:buClr>
              <a:buSzPts val="2800"/>
              <a:buFont typeface="+mj-lt"/>
              <a:buAutoNum type="arabicPeriod"/>
            </a:pPr>
            <a:r>
              <a:rPr lang="en-US" sz="2800" dirty="0">
                <a:latin typeface="Times New Roman" panose="02020603050405020304" pitchFamily="18" charset="0"/>
                <a:cs typeface="Times New Roman" panose="02020603050405020304" pitchFamily="18" charset="0"/>
              </a:rPr>
              <a:t>There is no passkey protection</a:t>
            </a:r>
          </a:p>
          <a:p>
            <a:pPr marL="514350" lvl="0" indent="-514350">
              <a:lnSpc>
                <a:spcPct val="150000"/>
              </a:lnSpc>
              <a:buClr>
                <a:schemeClr val="dk1"/>
              </a:buClr>
              <a:buSzPts val="2800"/>
              <a:buFont typeface="+mj-lt"/>
              <a:buAutoNum type="arabicPeriod"/>
            </a:pPr>
            <a:r>
              <a:rPr lang="en-US" sz="2800" dirty="0">
                <a:latin typeface="Times New Roman" panose="02020603050405020304" pitchFamily="18" charset="0"/>
                <a:cs typeface="Times New Roman" panose="02020603050405020304" pitchFamily="18" charset="0"/>
              </a:rPr>
              <a:t>Spam and unwanted messages are common</a:t>
            </a:r>
          </a:p>
          <a:p>
            <a:pPr marL="514350" lvl="0" indent="-514350">
              <a:lnSpc>
                <a:spcPct val="150000"/>
              </a:lnSpc>
              <a:buClr>
                <a:schemeClr val="dk1"/>
              </a:buClr>
              <a:buSzPts val="2800"/>
              <a:buFont typeface="+mj-lt"/>
              <a:buAutoNum type="arabicPeriod"/>
            </a:pPr>
            <a:r>
              <a:rPr lang="en-US" sz="2800" dirty="0">
                <a:latin typeface="Times New Roman" panose="02020603050405020304" pitchFamily="18" charset="0"/>
                <a:cs typeface="Times New Roman" panose="02020603050405020304" pitchFamily="18" charset="0"/>
              </a:rPr>
              <a:t>No intelligent monitoring for suspicious activities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8</a:t>
            </a:fld>
            <a:endParaRPr b="1">
              <a:solidFill>
                <a:schemeClr val="dk1"/>
              </a:solidFill>
            </a:endParaRPr>
          </a:p>
        </p:txBody>
      </p:sp>
      <p:sp>
        <p:nvSpPr>
          <p:cNvPr id="140" name="Google Shape;140;p20"/>
          <p:cNvSpPr txBox="1"/>
          <p:nvPr/>
        </p:nvSpPr>
        <p:spPr>
          <a:xfrm>
            <a:off x="-1" y="0"/>
            <a:ext cx="12192000" cy="76940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44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rPr>
              <a:t>PROPOSED SYSTEM ARCHITECTURE</a:t>
            </a:r>
            <a:endParaRPr sz="4400" b="1" i="0" u="none" strike="noStrike" cap="none" dirty="0">
              <a:solidFill>
                <a:schemeClr val="dk1"/>
              </a:solidFill>
              <a:latin typeface="Times New Roman" panose="02020603050405020304" pitchFamily="18" charset="0"/>
              <a:ea typeface="Arial Narrow"/>
              <a:cs typeface="Times New Roman" panose="02020603050405020304" pitchFamily="18" charset="0"/>
              <a:sym typeface="Arial Narrow"/>
            </a:endParaRPr>
          </a:p>
        </p:txBody>
      </p:sp>
      <p:pic>
        <p:nvPicPr>
          <p:cNvPr id="7" name="Picture 6">
            <a:extLst>
              <a:ext uri="{FF2B5EF4-FFF2-40B4-BE49-F238E27FC236}">
                <a16:creationId xmlns:a16="http://schemas.microsoft.com/office/drawing/2014/main" id="{7F4ACF9C-82CF-8E89-B875-77BB1A0C3DA8}"/>
              </a:ext>
            </a:extLst>
          </p:cNvPr>
          <p:cNvPicPr>
            <a:picLocks noChangeAspect="1"/>
          </p:cNvPicPr>
          <p:nvPr/>
        </p:nvPicPr>
        <p:blipFill>
          <a:blip r:embed="rId3"/>
          <a:srcRect t="7248"/>
          <a:stretch>
            <a:fillRect/>
          </a:stretch>
        </p:blipFill>
        <p:spPr>
          <a:xfrm>
            <a:off x="952499" y="1062914"/>
            <a:ext cx="10287000" cy="52934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1"/>
          <p:cNvSpPr txBox="1">
            <a:spLocks noGrp="1"/>
          </p:cNvSpPr>
          <p:nvPr>
            <p:ph type="title"/>
          </p:nvPr>
        </p:nvSpPr>
        <p:spPr>
          <a:xfrm>
            <a:off x="0" y="0"/>
            <a:ext cx="12192000" cy="8238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Times New Roman" panose="02020603050405020304" pitchFamily="18" charset="0"/>
                <a:ea typeface="Arial Narrow"/>
                <a:cs typeface="Times New Roman" panose="02020603050405020304" pitchFamily="18" charset="0"/>
                <a:sym typeface="Arial Narrow"/>
              </a:rPr>
              <a:t>SOFTWARE AND HARDWARE REQUIREMENTS </a:t>
            </a:r>
            <a:endParaRPr dirty="0">
              <a:latin typeface="Times New Roman" panose="02020603050405020304" pitchFamily="18" charset="0"/>
              <a:ea typeface="Arial Narrow"/>
              <a:cs typeface="Times New Roman" panose="02020603050405020304" pitchFamily="18" charset="0"/>
              <a:sym typeface="Arial Narrow"/>
            </a:endParaRPr>
          </a:p>
        </p:txBody>
      </p:sp>
      <p:sp>
        <p:nvSpPr>
          <p:cNvPr id="146" name="Google Shape;146;p21"/>
          <p:cNvSpPr txBox="1">
            <a:spLocks noGrp="1"/>
          </p:cNvSpPr>
          <p:nvPr>
            <p:ph type="body" idx="2"/>
          </p:nvPr>
        </p:nvSpPr>
        <p:spPr>
          <a:xfrm>
            <a:off x="265938" y="2671762"/>
            <a:ext cx="5157900" cy="36846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800"/>
              <a:buFont typeface="Arial"/>
              <a:buNone/>
            </a:pPr>
            <a:r>
              <a:rPr lang="en-US" b="1" dirty="0">
                <a:latin typeface="Times New Roman" panose="02020603050405020304" pitchFamily="18" charset="0"/>
                <a:ea typeface="Arial Narrow"/>
                <a:cs typeface="Times New Roman" panose="02020603050405020304" pitchFamily="18" charset="0"/>
                <a:sym typeface="Arial Narrow"/>
              </a:rPr>
              <a:t>HARDWARE</a:t>
            </a:r>
            <a:endParaRPr dirty="0">
              <a:latin typeface="Times New Roman" panose="02020603050405020304" pitchFamily="18" charset="0"/>
              <a:ea typeface="Arial Narrow"/>
              <a:cs typeface="Times New Roman" panose="02020603050405020304" pitchFamily="18" charset="0"/>
              <a:sym typeface="Arial Narrow"/>
            </a:endParaRPr>
          </a:p>
          <a:p>
            <a:pPr marL="114300" indent="0">
              <a:lnSpc>
                <a:spcPct val="100000"/>
              </a:lnSpc>
              <a:buNone/>
            </a:pPr>
            <a:r>
              <a:rPr lang="en-US" dirty="0">
                <a:latin typeface="Arial Narrow"/>
                <a:ea typeface="Arial Narrow"/>
                <a:cs typeface="Arial Narrow"/>
                <a:sym typeface="Arial Narrow"/>
              </a:rPr>
              <a:t>1.</a:t>
            </a:r>
            <a:r>
              <a:rPr lang="en-IN" dirty="0">
                <a:latin typeface="Times New Roman" panose="02020603050405020304" pitchFamily="18" charset="0"/>
                <a:cs typeface="Times New Roman" panose="02020603050405020304" pitchFamily="18" charset="0"/>
              </a:rPr>
              <a:t> Processor : Intel Core i3 </a:t>
            </a:r>
          </a:p>
          <a:p>
            <a:pPr marL="114300" indent="0">
              <a:lnSpc>
                <a:spcPct val="100000"/>
              </a:lnSpc>
              <a:buNone/>
            </a:pPr>
            <a:r>
              <a:rPr lang="en-IN" dirty="0">
                <a:latin typeface="Times New Roman" panose="02020603050405020304" pitchFamily="18" charset="0"/>
                <a:cs typeface="Times New Roman" panose="02020603050405020304" pitchFamily="18" charset="0"/>
              </a:rPr>
              <a:t>2. RAM : 4 GB or above</a:t>
            </a:r>
          </a:p>
          <a:p>
            <a:pPr marL="114300" indent="0">
              <a:lnSpc>
                <a:spcPct val="100000"/>
              </a:lnSpc>
              <a:buNone/>
            </a:pPr>
            <a:r>
              <a:rPr lang="en-IN" dirty="0">
                <a:latin typeface="Times New Roman" panose="02020603050405020304" pitchFamily="18" charset="0"/>
                <a:cs typeface="Times New Roman" panose="02020603050405020304" pitchFamily="18" charset="0"/>
              </a:rPr>
              <a:t>3. Hard Disk : 500 GB</a:t>
            </a:r>
          </a:p>
        </p:txBody>
      </p:sp>
      <p:sp>
        <p:nvSpPr>
          <p:cNvPr id="147" name="Google Shape;147;p21"/>
          <p:cNvSpPr txBox="1">
            <a:spLocks noGrp="1"/>
          </p:cNvSpPr>
          <p:nvPr>
            <p:ph type="body" idx="4"/>
          </p:nvPr>
        </p:nvSpPr>
        <p:spPr>
          <a:xfrm>
            <a:off x="6479628" y="2539370"/>
            <a:ext cx="5641503" cy="381698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dk1"/>
              </a:buClr>
              <a:buSzPts val="2800"/>
              <a:buFont typeface="Arial"/>
              <a:buNone/>
            </a:pPr>
            <a:r>
              <a:rPr lang="en-US" b="1" dirty="0">
                <a:latin typeface="Times New Roman" panose="02020603050405020304" pitchFamily="18" charset="0"/>
                <a:ea typeface="Arial Narrow"/>
                <a:cs typeface="Times New Roman" panose="02020603050405020304" pitchFamily="18" charset="0"/>
                <a:sym typeface="Arial Narrow"/>
              </a:rPr>
              <a:t>SOFTWARE</a:t>
            </a:r>
            <a:endParaRPr b="1" dirty="0">
              <a:latin typeface="Times New Roman" panose="02020603050405020304" pitchFamily="18" charset="0"/>
              <a:ea typeface="Arial Narrow"/>
              <a:cs typeface="Times New Roman" panose="02020603050405020304" pitchFamily="18" charset="0"/>
              <a:sym typeface="Arial Narrow"/>
            </a:endParaRPr>
          </a:p>
          <a:p>
            <a:pPr marL="114300" indent="0">
              <a:lnSpc>
                <a:spcPct val="100000"/>
              </a:lnSpc>
              <a:buNone/>
            </a:pPr>
            <a:r>
              <a:rPr lang="en-IN" sz="2600" dirty="0">
                <a:latin typeface="Times New Roman" panose="02020603050405020304" pitchFamily="18" charset="0"/>
                <a:cs typeface="Times New Roman" panose="02020603050405020304" pitchFamily="18" charset="0"/>
              </a:rPr>
              <a:t>1. Operating System : Windows 10 </a:t>
            </a:r>
          </a:p>
          <a:p>
            <a:pPr marL="114300" indent="0">
              <a:lnSpc>
                <a:spcPct val="100000"/>
              </a:lnSpc>
              <a:buNone/>
            </a:pPr>
            <a:r>
              <a:rPr lang="en-IN" sz="2600" dirty="0">
                <a:latin typeface="Times New Roman" panose="02020603050405020304" pitchFamily="18" charset="0"/>
                <a:cs typeface="Times New Roman" panose="02020603050405020304" pitchFamily="18" charset="0"/>
              </a:rPr>
              <a:t>2. Programming Language : Python</a:t>
            </a:r>
          </a:p>
          <a:p>
            <a:pPr marL="114300" indent="0">
              <a:lnSpc>
                <a:spcPct val="100000"/>
              </a:lnSpc>
              <a:buNone/>
            </a:pPr>
            <a:r>
              <a:rPr lang="en-IN" sz="2600" dirty="0">
                <a:latin typeface="Times New Roman" panose="02020603050405020304" pitchFamily="18" charset="0"/>
                <a:cs typeface="Times New Roman" panose="02020603050405020304" pitchFamily="18" charset="0"/>
              </a:rPr>
              <a:t>3. Frontend : HTML, CSS, JavaScript</a:t>
            </a:r>
          </a:p>
          <a:p>
            <a:pPr marL="114300" indent="0">
              <a:lnSpc>
                <a:spcPct val="100000"/>
              </a:lnSpc>
              <a:buNone/>
            </a:pPr>
            <a:r>
              <a:rPr lang="en-IN" sz="2600" dirty="0">
                <a:latin typeface="Times New Roman" panose="02020603050405020304" pitchFamily="18" charset="0"/>
                <a:cs typeface="Times New Roman" panose="02020603050405020304" pitchFamily="18" charset="0"/>
              </a:rPr>
              <a:t>4. Backend : Flask / Django</a:t>
            </a:r>
          </a:p>
          <a:p>
            <a:pPr marL="114300" indent="0">
              <a:lnSpc>
                <a:spcPct val="100000"/>
              </a:lnSpc>
              <a:buNone/>
            </a:pPr>
            <a:r>
              <a:rPr lang="en-IN" sz="2600" dirty="0">
                <a:latin typeface="Times New Roman" panose="02020603050405020304" pitchFamily="18" charset="0"/>
                <a:cs typeface="Times New Roman" panose="02020603050405020304" pitchFamily="18" charset="0"/>
              </a:rPr>
              <a:t>5. Database : MySQL</a:t>
            </a:r>
          </a:p>
          <a:p>
            <a:pPr marL="114300" indent="0">
              <a:lnSpc>
                <a:spcPct val="100000"/>
              </a:lnSpc>
              <a:buNone/>
            </a:pPr>
            <a:r>
              <a:rPr lang="en-IN" sz="2600" dirty="0">
                <a:latin typeface="Times New Roman" panose="02020603050405020304" pitchFamily="18" charset="0"/>
                <a:cs typeface="Times New Roman" panose="02020603050405020304" pitchFamily="18" charset="0"/>
              </a:rPr>
              <a:t>6. ML Library : Scikit-learn</a:t>
            </a:r>
          </a:p>
          <a:p>
            <a:pPr marL="0" lvl="0" indent="0" algn="l" rtl="0">
              <a:lnSpc>
                <a:spcPct val="90000"/>
              </a:lnSpc>
              <a:spcBef>
                <a:spcPts val="0"/>
              </a:spcBef>
              <a:spcAft>
                <a:spcPts val="0"/>
              </a:spcAft>
              <a:buClr>
                <a:srgbClr val="FF0000"/>
              </a:buClr>
              <a:buSzPts val="2800"/>
              <a:buNone/>
            </a:pPr>
            <a:endParaRPr sz="2600" dirty="0">
              <a:latin typeface="Arial Narrow"/>
              <a:ea typeface="Arial Narrow"/>
              <a:cs typeface="Arial Narrow"/>
              <a:sym typeface="Arial Narrow"/>
            </a:endParaRPr>
          </a:p>
        </p:txBody>
      </p:sp>
      <p:sp>
        <p:nvSpPr>
          <p:cNvPr id="148" name="Google Shape;14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9</a:t>
            </a:fld>
            <a:endParaRPr b="1">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2"/>
          <p:cNvSpPr txBox="1">
            <a:spLocks noGrp="1"/>
          </p:cNvSpPr>
          <p:nvPr>
            <p:ph type="title"/>
          </p:nvPr>
        </p:nvSpPr>
        <p:spPr>
          <a:xfrm>
            <a:off x="0" y="0"/>
            <a:ext cx="12192000" cy="6186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ct val="100000"/>
              <a:buFont typeface="Times New Roman"/>
              <a:buNone/>
            </a:pPr>
            <a:r>
              <a:rPr lang="en-US" b="1" dirty="0">
                <a:latin typeface="Times New Roman" panose="02020603050405020304" pitchFamily="18" charset="0"/>
                <a:ea typeface="Arial Narrow"/>
                <a:cs typeface="Times New Roman" panose="02020603050405020304" pitchFamily="18" charset="0"/>
                <a:sym typeface="Arial Narrow"/>
              </a:rPr>
              <a:t>MODULES </a:t>
            </a:r>
            <a:endParaRPr dirty="0">
              <a:latin typeface="Times New Roman" panose="02020603050405020304" pitchFamily="18" charset="0"/>
              <a:ea typeface="Arial Narrow"/>
              <a:cs typeface="Times New Roman" panose="02020603050405020304" pitchFamily="18" charset="0"/>
              <a:sym typeface="Arial Narrow"/>
            </a:endParaRPr>
          </a:p>
        </p:txBody>
      </p:sp>
      <p:sp>
        <p:nvSpPr>
          <p:cNvPr id="154" name="Google Shape;154;p22"/>
          <p:cNvSpPr txBox="1">
            <a:spLocks noGrp="1"/>
          </p:cNvSpPr>
          <p:nvPr>
            <p:ph type="body" idx="1"/>
          </p:nvPr>
        </p:nvSpPr>
        <p:spPr>
          <a:xfrm>
            <a:off x="838200" y="1557611"/>
            <a:ext cx="10515600" cy="4351338"/>
          </a:xfrm>
          <a:prstGeom prst="rect">
            <a:avLst/>
          </a:prstGeom>
          <a:noFill/>
          <a:ln>
            <a:noFill/>
          </a:ln>
        </p:spPr>
        <p:txBody>
          <a:bodyPr spcFirstLastPara="1" wrap="square" lIns="91425" tIns="45700" rIns="91425" bIns="45700" anchor="t" anchorCtr="0">
            <a:normAutofit/>
          </a:bodyPr>
          <a:lstStyle/>
          <a:p>
            <a:pPr marL="114300" lvl="0" indent="0">
              <a:lnSpc>
                <a:spcPct val="150000"/>
              </a:lnSpc>
              <a:buNone/>
            </a:pPr>
            <a:r>
              <a:rPr lang="en-IN" dirty="0">
                <a:latin typeface="Times New Roman" panose="02020603050405020304" pitchFamily="18" charset="0"/>
                <a:cs typeface="Times New Roman" panose="02020603050405020304" pitchFamily="18" charset="0"/>
              </a:rPr>
              <a:t>1. User Registration and Login Module</a:t>
            </a:r>
          </a:p>
          <a:p>
            <a:pPr marL="114300" lvl="0" indent="0">
              <a:lnSpc>
                <a:spcPct val="150000"/>
              </a:lnSpc>
              <a:buNone/>
            </a:pPr>
            <a:r>
              <a:rPr lang="en-IN" dirty="0">
                <a:latin typeface="Times New Roman" panose="02020603050405020304" pitchFamily="18" charset="0"/>
                <a:cs typeface="Times New Roman" panose="02020603050405020304" pitchFamily="18" charset="0"/>
              </a:rPr>
              <a:t>2. Message Request and Acceptance Module</a:t>
            </a:r>
          </a:p>
          <a:p>
            <a:pPr marL="114300" lvl="0" indent="0">
              <a:lnSpc>
                <a:spcPct val="150000"/>
              </a:lnSpc>
              <a:buNone/>
            </a:pPr>
            <a:r>
              <a:rPr lang="en-IN" dirty="0">
                <a:latin typeface="Times New Roman" panose="02020603050405020304" pitchFamily="18" charset="0"/>
                <a:cs typeface="Times New Roman" panose="02020603050405020304" pitchFamily="18" charset="0"/>
              </a:rPr>
              <a:t>3. Message Encryption Module</a:t>
            </a:r>
          </a:p>
          <a:p>
            <a:pPr marL="114300" lvl="0" indent="0">
              <a:lnSpc>
                <a:spcPct val="150000"/>
              </a:lnSpc>
              <a:buNone/>
            </a:pPr>
            <a:r>
              <a:rPr lang="en-IN" dirty="0">
                <a:latin typeface="Times New Roman" panose="02020603050405020304" pitchFamily="18" charset="0"/>
                <a:cs typeface="Times New Roman" panose="02020603050405020304" pitchFamily="18" charset="0"/>
              </a:rPr>
              <a:t>4. Passkey Generation and Decryption Module</a:t>
            </a:r>
          </a:p>
          <a:p>
            <a:pPr marL="114300" lvl="0" indent="0">
              <a:lnSpc>
                <a:spcPct val="150000"/>
              </a:lnSpc>
              <a:buNone/>
            </a:pPr>
            <a:r>
              <a:rPr lang="en-IN" dirty="0">
                <a:latin typeface="Times New Roman" panose="02020603050405020304" pitchFamily="18" charset="0"/>
                <a:cs typeface="Times New Roman" panose="02020603050405020304" pitchFamily="18" charset="0"/>
              </a:rPr>
              <a:t>5. Database and Secret Key Management Module</a:t>
            </a:r>
          </a:p>
          <a:p>
            <a:pPr marL="0" lvl="0" indent="0" algn="l" rtl="0">
              <a:lnSpc>
                <a:spcPct val="90000"/>
              </a:lnSpc>
              <a:spcBef>
                <a:spcPts val="1000"/>
              </a:spcBef>
              <a:spcAft>
                <a:spcPts val="0"/>
              </a:spcAft>
              <a:buClr>
                <a:srgbClr val="FF0000"/>
              </a:buClr>
              <a:buSzPts val="2800"/>
              <a:buNone/>
            </a:pPr>
            <a:endParaRPr dirty="0">
              <a:latin typeface="Arial Narrow"/>
              <a:ea typeface="Arial Narrow"/>
              <a:cs typeface="Arial Narrow"/>
              <a:sym typeface="Arial Narrow"/>
            </a:endParaRPr>
          </a:p>
        </p:txBody>
      </p:sp>
      <p:sp>
        <p:nvSpPr>
          <p:cNvPr id="155" name="Google Shape;15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10</a:t>
            </a:fld>
            <a:endParaRPr b="1">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3"/>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Autofit/>
          </a:bodyPr>
          <a:lstStyle/>
          <a:p>
            <a:pPr lvl="0" algn="ctr">
              <a:buSzPct val="100000"/>
            </a:pPr>
            <a:r>
              <a:rPr lang="en-US" b="1" dirty="0">
                <a:latin typeface="Times New Roman" panose="02020603050405020304" pitchFamily="18" charset="0"/>
                <a:cs typeface="Times New Roman" panose="02020603050405020304" pitchFamily="18" charset="0"/>
              </a:rPr>
              <a:t>USER REGISTRATION AND LOGIN MODULE</a:t>
            </a:r>
            <a:endParaRPr lang="en-US" b="1" dirty="0">
              <a:latin typeface="Arial Narrow"/>
              <a:ea typeface="Arial Narrow"/>
              <a:cs typeface="Arial Narrow"/>
              <a:sym typeface="Arial Narrow"/>
            </a:endParaRPr>
          </a:p>
        </p:txBody>
      </p:sp>
      <p:sp>
        <p:nvSpPr>
          <p:cNvPr id="161" name="Google Shape;161;p23"/>
          <p:cNvSpPr txBox="1">
            <a:spLocks noGrp="1"/>
          </p:cNvSpPr>
          <p:nvPr>
            <p:ph type="body" idx="1"/>
          </p:nvPr>
        </p:nvSpPr>
        <p:spPr>
          <a:xfrm>
            <a:off x="-8695" y="1156880"/>
            <a:ext cx="7812626" cy="5382032"/>
          </a:xfrm>
          <a:prstGeom prst="rect">
            <a:avLst/>
          </a:prstGeom>
          <a:noFill/>
          <a:ln>
            <a:noFill/>
          </a:ln>
        </p:spPr>
        <p:txBody>
          <a:bodyPr spcFirstLastPara="1" wrap="square" lIns="91425" tIns="45700" rIns="91425" bIns="45700" anchor="t" anchorCtr="0">
            <a:normAutofit fontScale="92500"/>
          </a:bodyPr>
          <a:lstStyle/>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This module is responsible for user    authentication and access control in the system.</a:t>
            </a:r>
          </a:p>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New users must first register by providing details such as username, email ID, and password. The system stores these details securely in the database. </a:t>
            </a:r>
          </a:p>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After registration, users can log in using their credentials. This module ensures that unauthorized users cannot enter the platform.</a:t>
            </a:r>
            <a:endParaRPr lang="en-IN" sz="2400" kern="1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n-IN" dirty="0"/>
          </a:p>
          <a:p>
            <a:pPr marL="0" lvl="0" indent="0" algn="just" rtl="0">
              <a:lnSpc>
                <a:spcPct val="90000"/>
              </a:lnSpc>
              <a:spcBef>
                <a:spcPts val="1000"/>
              </a:spcBef>
              <a:spcAft>
                <a:spcPts val="0"/>
              </a:spcAft>
              <a:buClr>
                <a:srgbClr val="FF0000"/>
              </a:buClr>
              <a:buSzPts val="2800"/>
              <a:buNone/>
            </a:pPr>
            <a:endParaRPr dirty="0">
              <a:latin typeface="Arial Narrow"/>
              <a:ea typeface="Arial Narrow"/>
              <a:cs typeface="Arial Narrow"/>
              <a:sym typeface="Arial Narrow"/>
            </a:endParaRPr>
          </a:p>
        </p:txBody>
      </p:sp>
      <p:sp>
        <p:nvSpPr>
          <p:cNvPr id="162" name="Google Shape;16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11</a:t>
            </a:fld>
            <a:endParaRPr b="1">
              <a:solidFill>
                <a:schemeClr val="dk1"/>
              </a:solidFill>
            </a:endParaRPr>
          </a:p>
        </p:txBody>
      </p:sp>
      <p:sp>
        <p:nvSpPr>
          <p:cNvPr id="163" name="Google Shape;163;p23"/>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65" name="Google Shape;165;p23"/>
          <p:cNvSpPr txBox="1"/>
          <p:nvPr/>
        </p:nvSpPr>
        <p:spPr>
          <a:xfrm>
            <a:off x="8223600" y="6061110"/>
            <a:ext cx="3517200" cy="572700"/>
          </a:xfrm>
          <a:prstGeom prst="rect">
            <a:avLst/>
          </a:prstGeom>
          <a:noFill/>
          <a:ln>
            <a:noFill/>
          </a:ln>
        </p:spPr>
        <p:txBody>
          <a:bodyPr spcFirstLastPara="1" wrap="square" lIns="91425" tIns="91425" rIns="91425" bIns="91425" anchor="t" anchorCtr="0">
            <a:spAutoFit/>
          </a:bodyPr>
          <a:lstStyle/>
          <a:p>
            <a:pPr marL="0" lvl="0" indent="0" algn="just" rtl="0">
              <a:lnSpc>
                <a:spcPct val="90000"/>
              </a:lnSpc>
              <a:spcBef>
                <a:spcPts val="0"/>
              </a:spcBef>
              <a:spcAft>
                <a:spcPts val="0"/>
              </a:spcAft>
              <a:buNone/>
            </a:pPr>
            <a:r>
              <a:rPr lang="en-US" sz="2800" dirty="0">
                <a:solidFill>
                  <a:schemeClr val="dk1"/>
                </a:solidFill>
                <a:latin typeface="Arial Narrow"/>
                <a:ea typeface="Arial Narrow"/>
                <a:cs typeface="Arial Narrow"/>
                <a:sym typeface="Arial Narrow"/>
              </a:rPr>
              <a:t>Screenshot of Module - 1</a:t>
            </a:r>
            <a:endParaRPr dirty="0"/>
          </a:p>
        </p:txBody>
      </p:sp>
      <p:pic>
        <p:nvPicPr>
          <p:cNvPr id="2" name="Picture 1">
            <a:extLst>
              <a:ext uri="{FF2B5EF4-FFF2-40B4-BE49-F238E27FC236}">
                <a16:creationId xmlns:a16="http://schemas.microsoft.com/office/drawing/2014/main" id="{B461BB48-40C3-8474-DC94-8B6CCECD5A70}"/>
              </a:ext>
            </a:extLst>
          </p:cNvPr>
          <p:cNvPicPr>
            <a:picLocks noChangeAspect="1"/>
          </p:cNvPicPr>
          <p:nvPr/>
        </p:nvPicPr>
        <p:blipFill>
          <a:blip r:embed="rId3"/>
          <a:stretch>
            <a:fillRect/>
          </a:stretch>
        </p:blipFill>
        <p:spPr>
          <a:xfrm>
            <a:off x="7782723" y="790065"/>
            <a:ext cx="4398954" cy="52710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4"/>
          <p:cNvSpPr txBox="1">
            <a:spLocks noGrp="1"/>
          </p:cNvSpPr>
          <p:nvPr>
            <p:ph type="title"/>
          </p:nvPr>
        </p:nvSpPr>
        <p:spPr>
          <a:xfrm>
            <a:off x="0" y="318281"/>
            <a:ext cx="12192000" cy="574335"/>
          </a:xfrm>
          <a:prstGeom prst="rect">
            <a:avLst/>
          </a:prstGeom>
          <a:noFill/>
          <a:ln>
            <a:noFill/>
          </a:ln>
        </p:spPr>
        <p:txBody>
          <a:bodyPr spcFirstLastPara="1" wrap="square" lIns="91425" tIns="45700" rIns="91425" bIns="45700" anchor="ctr" anchorCtr="0">
            <a:noAutofit/>
          </a:bodyPr>
          <a:lstStyle/>
          <a:p>
            <a:pPr algn="ctr">
              <a:buSzPct val="100000"/>
            </a:pPr>
            <a:r>
              <a:rPr lang="en-IN" b="1" dirty="0">
                <a:latin typeface="Times New Roman" panose="02020603050405020304" pitchFamily="18" charset="0"/>
                <a:cs typeface="Times New Roman" panose="02020603050405020304" pitchFamily="18" charset="0"/>
              </a:rPr>
              <a:t>MESSAGE REQUEST AND ACCEPTANCE MODULE</a:t>
            </a:r>
            <a:endParaRPr lang="en-IN" b="1" dirty="0">
              <a:latin typeface="Arial Narrow"/>
              <a:ea typeface="Arial Narrow"/>
              <a:cs typeface="Arial Narrow"/>
              <a:sym typeface="Arial Narrow"/>
            </a:endParaRPr>
          </a:p>
        </p:txBody>
      </p:sp>
      <p:sp>
        <p:nvSpPr>
          <p:cNvPr id="171" name="Google Shape;171;p24"/>
          <p:cNvSpPr txBox="1">
            <a:spLocks noGrp="1"/>
          </p:cNvSpPr>
          <p:nvPr>
            <p:ph type="body" idx="1"/>
          </p:nvPr>
        </p:nvSpPr>
        <p:spPr>
          <a:xfrm>
            <a:off x="115860" y="1213945"/>
            <a:ext cx="7420058" cy="5188599"/>
          </a:xfrm>
          <a:prstGeom prst="rect">
            <a:avLst/>
          </a:prstGeom>
          <a:noFill/>
          <a:ln>
            <a:noFill/>
          </a:ln>
        </p:spPr>
        <p:txBody>
          <a:bodyPr spcFirstLastPara="1" wrap="square" lIns="91425" tIns="45700" rIns="91425" bIns="45700" anchor="t" anchorCtr="0">
            <a:noAutofit/>
          </a:bodyPr>
          <a:lstStyle/>
          <a:p>
            <a:pPr algn="just">
              <a:lnSpc>
                <a:spcPct val="150000"/>
              </a:lnSpc>
            </a:pPr>
            <a:r>
              <a:rPr lang="en-IN" sz="2600" kern="100" dirty="0">
                <a:latin typeface="Times New Roman" panose="02020603050405020304" pitchFamily="18" charset="0"/>
                <a:ea typeface="Calibri" panose="020F0502020204030204" pitchFamily="34" charset="0"/>
                <a:cs typeface="Times New Roman" panose="02020603050405020304" pitchFamily="18" charset="0"/>
              </a:rPr>
              <a:t>In this module, the sender sends a message request to the receiver before the actual message is delivered. </a:t>
            </a:r>
          </a:p>
          <a:p>
            <a:pPr algn="just">
              <a:lnSpc>
                <a:spcPct val="150000"/>
              </a:lnSpc>
            </a:pPr>
            <a:r>
              <a:rPr lang="en-IN" sz="2600" kern="100" dirty="0">
                <a:latin typeface="Times New Roman" panose="02020603050405020304" pitchFamily="18" charset="0"/>
                <a:ea typeface="Calibri" panose="020F0502020204030204" pitchFamily="34" charset="0"/>
                <a:cs typeface="Times New Roman" panose="02020603050405020304" pitchFamily="18" charset="0"/>
              </a:rPr>
              <a:t>The receiver will receive a notification about the request. The receiver must accept the request to start communication. </a:t>
            </a:r>
          </a:p>
          <a:p>
            <a:pPr algn="just">
              <a:lnSpc>
                <a:spcPct val="150000"/>
              </a:lnSpc>
            </a:pPr>
            <a:r>
              <a:rPr lang="en-IN" sz="2600" kern="100" dirty="0">
                <a:latin typeface="Times New Roman" panose="02020603050405020304" pitchFamily="18" charset="0"/>
                <a:ea typeface="Calibri" panose="020F0502020204030204" pitchFamily="34" charset="0"/>
                <a:cs typeface="Times New Roman" panose="02020603050405020304" pitchFamily="18" charset="0"/>
              </a:rPr>
              <a:t>If the receiver does not accept the request, the message will not be delivered. </a:t>
            </a:r>
          </a:p>
        </p:txBody>
      </p:sp>
      <p:sp>
        <p:nvSpPr>
          <p:cNvPr id="172" name="Google Shape;172;p2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12</a:t>
            </a:fld>
            <a:endParaRPr b="1">
              <a:solidFill>
                <a:schemeClr val="dk1"/>
              </a:solidFill>
            </a:endParaRPr>
          </a:p>
        </p:txBody>
      </p:sp>
      <p:sp>
        <p:nvSpPr>
          <p:cNvPr id="173" name="Google Shape;173;p24"/>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75" name="Google Shape;175;p24"/>
          <p:cNvSpPr txBox="1"/>
          <p:nvPr/>
        </p:nvSpPr>
        <p:spPr>
          <a:xfrm>
            <a:off x="8223599" y="6252550"/>
            <a:ext cx="3517200" cy="572700"/>
          </a:xfrm>
          <a:prstGeom prst="rect">
            <a:avLst/>
          </a:prstGeom>
          <a:noFill/>
          <a:ln>
            <a:noFill/>
          </a:ln>
        </p:spPr>
        <p:txBody>
          <a:bodyPr spcFirstLastPara="1" wrap="square" lIns="91425" tIns="91425" rIns="91425" bIns="91425" anchor="t" anchorCtr="0">
            <a:spAutoFit/>
          </a:bodyPr>
          <a:lstStyle/>
          <a:p>
            <a:pPr marL="0" lvl="0" indent="0" algn="just" rtl="0">
              <a:lnSpc>
                <a:spcPct val="90000"/>
              </a:lnSpc>
              <a:spcBef>
                <a:spcPts val="0"/>
              </a:spcBef>
              <a:spcAft>
                <a:spcPts val="0"/>
              </a:spcAft>
              <a:buNone/>
            </a:pPr>
            <a:r>
              <a:rPr lang="en-US" sz="2800" dirty="0">
                <a:solidFill>
                  <a:schemeClr val="dk1"/>
                </a:solidFill>
                <a:latin typeface="Arial Narrow"/>
                <a:ea typeface="Arial Narrow"/>
                <a:cs typeface="Arial Narrow"/>
                <a:sym typeface="Arial Narrow"/>
              </a:rPr>
              <a:t>Screenshot of Module - 2</a:t>
            </a:r>
            <a:endParaRPr dirty="0"/>
          </a:p>
        </p:txBody>
      </p:sp>
      <p:pic>
        <p:nvPicPr>
          <p:cNvPr id="2" name="Picture 1">
            <a:extLst>
              <a:ext uri="{FF2B5EF4-FFF2-40B4-BE49-F238E27FC236}">
                <a16:creationId xmlns:a16="http://schemas.microsoft.com/office/drawing/2014/main" id="{CEC8A26D-7AF1-2291-5123-495492481233}"/>
              </a:ext>
            </a:extLst>
          </p:cNvPr>
          <p:cNvPicPr>
            <a:picLocks noChangeAspect="1"/>
          </p:cNvPicPr>
          <p:nvPr/>
        </p:nvPicPr>
        <p:blipFill>
          <a:blip r:embed="rId3"/>
          <a:stretch>
            <a:fillRect/>
          </a:stretch>
        </p:blipFill>
        <p:spPr>
          <a:xfrm>
            <a:off x="7535918" y="1213945"/>
            <a:ext cx="4540222" cy="2461260"/>
          </a:xfrm>
          <a:prstGeom prst="rect">
            <a:avLst/>
          </a:prstGeom>
        </p:spPr>
      </p:pic>
      <p:pic>
        <p:nvPicPr>
          <p:cNvPr id="3" name="Picture 2">
            <a:extLst>
              <a:ext uri="{FF2B5EF4-FFF2-40B4-BE49-F238E27FC236}">
                <a16:creationId xmlns:a16="http://schemas.microsoft.com/office/drawing/2014/main" id="{1F11A4CE-1D47-1AF3-1BB9-4502D4A116FF}"/>
              </a:ext>
            </a:extLst>
          </p:cNvPr>
          <p:cNvPicPr>
            <a:picLocks noChangeAspect="1"/>
          </p:cNvPicPr>
          <p:nvPr/>
        </p:nvPicPr>
        <p:blipFill>
          <a:blip r:embed="rId4"/>
          <a:srcRect l="12380" b="37210"/>
          <a:stretch>
            <a:fillRect/>
          </a:stretch>
        </p:blipFill>
        <p:spPr>
          <a:xfrm>
            <a:off x="7535917" y="3808245"/>
            <a:ext cx="4540223" cy="244430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5"/>
          <p:cNvSpPr txBox="1">
            <a:spLocks noGrp="1"/>
          </p:cNvSpPr>
          <p:nvPr>
            <p:ph type="title"/>
          </p:nvPr>
        </p:nvSpPr>
        <p:spPr>
          <a:xfrm>
            <a:off x="0" y="0"/>
            <a:ext cx="12192000" cy="566400"/>
          </a:xfrm>
          <a:prstGeom prst="rect">
            <a:avLst/>
          </a:prstGeom>
          <a:noFill/>
          <a:ln>
            <a:noFill/>
          </a:ln>
        </p:spPr>
        <p:txBody>
          <a:bodyPr spcFirstLastPara="1" wrap="square" lIns="91425" tIns="45700" rIns="91425" bIns="45700" anchor="ctr" anchorCtr="0">
            <a:noAutofit/>
          </a:bodyPr>
          <a:lstStyle/>
          <a:p>
            <a:pPr algn="ctr">
              <a:buSzPct val="100000"/>
            </a:pPr>
            <a:r>
              <a:rPr lang="en-IN" b="1" dirty="0">
                <a:latin typeface="Times New Roman" panose="02020603050405020304" pitchFamily="18" charset="0"/>
                <a:cs typeface="Times New Roman" panose="02020603050405020304" pitchFamily="18" charset="0"/>
              </a:rPr>
              <a:t>MESSAGE ENCRYPTION MODULE</a:t>
            </a:r>
            <a:endParaRPr lang="en-IN" b="1" dirty="0">
              <a:latin typeface="Arial Narrow"/>
              <a:ea typeface="Arial Narrow"/>
              <a:cs typeface="Arial Narrow"/>
              <a:sym typeface="Arial Narrow"/>
            </a:endParaRPr>
          </a:p>
        </p:txBody>
      </p:sp>
      <p:sp>
        <p:nvSpPr>
          <p:cNvPr id="181" name="Google Shape;181;p25"/>
          <p:cNvSpPr txBox="1">
            <a:spLocks noGrp="1"/>
          </p:cNvSpPr>
          <p:nvPr>
            <p:ph type="body" idx="1"/>
          </p:nvPr>
        </p:nvSpPr>
        <p:spPr>
          <a:xfrm>
            <a:off x="0" y="1100999"/>
            <a:ext cx="7409793" cy="5362195"/>
          </a:xfrm>
          <a:prstGeom prst="rect">
            <a:avLst/>
          </a:prstGeom>
          <a:noFill/>
          <a:ln>
            <a:noFill/>
          </a:ln>
        </p:spPr>
        <p:txBody>
          <a:bodyPr spcFirstLastPara="1" wrap="square" lIns="91425" tIns="45700" rIns="91425" bIns="45700" anchor="t" anchorCtr="0">
            <a:normAutofit fontScale="92500" lnSpcReduction="20000"/>
          </a:bodyPr>
          <a:lstStyle/>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The message encryption module ensures that messages are converted into a secure encrypted format before transmission. </a:t>
            </a:r>
          </a:p>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When the sender sends a message, the system uses an encryption algorithm and a secret key to transform the original message into an encoded or unreadable form.</a:t>
            </a:r>
          </a:p>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This encrypted message is then sent to the receiver. </a:t>
            </a:r>
          </a:p>
          <a:p>
            <a:pPr marL="0" lvl="0" indent="0" algn="just" rtl="0">
              <a:lnSpc>
                <a:spcPct val="90000"/>
              </a:lnSpc>
              <a:spcBef>
                <a:spcPts val="1000"/>
              </a:spcBef>
              <a:spcAft>
                <a:spcPts val="0"/>
              </a:spcAft>
              <a:buClr>
                <a:srgbClr val="FF0000"/>
              </a:buClr>
              <a:buSzPts val="2800"/>
              <a:buNone/>
            </a:pPr>
            <a:endParaRPr dirty="0">
              <a:latin typeface="Arial Narrow"/>
              <a:ea typeface="Arial Narrow"/>
              <a:cs typeface="Arial Narrow"/>
              <a:sym typeface="Arial Narrow"/>
            </a:endParaRPr>
          </a:p>
        </p:txBody>
      </p:sp>
      <p:sp>
        <p:nvSpPr>
          <p:cNvPr id="182" name="Google Shape;182;p2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13</a:t>
            </a:fld>
            <a:endParaRPr b="1">
              <a:solidFill>
                <a:schemeClr val="dk1"/>
              </a:solidFill>
            </a:endParaRPr>
          </a:p>
        </p:txBody>
      </p:sp>
      <p:sp>
        <p:nvSpPr>
          <p:cNvPr id="183" name="Google Shape;183;p25"/>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5" name="Google Shape;185;p25"/>
          <p:cNvSpPr txBox="1"/>
          <p:nvPr/>
        </p:nvSpPr>
        <p:spPr>
          <a:xfrm>
            <a:off x="7953578" y="5924872"/>
            <a:ext cx="3517200" cy="572700"/>
          </a:xfrm>
          <a:prstGeom prst="rect">
            <a:avLst/>
          </a:prstGeom>
          <a:noFill/>
          <a:ln>
            <a:noFill/>
          </a:ln>
        </p:spPr>
        <p:txBody>
          <a:bodyPr spcFirstLastPara="1" wrap="square" lIns="91425" tIns="91425" rIns="91425" bIns="91425" anchor="t" anchorCtr="0">
            <a:spAutoFit/>
          </a:bodyPr>
          <a:lstStyle/>
          <a:p>
            <a:pPr marL="0" lvl="0" indent="0" algn="just" rtl="0">
              <a:lnSpc>
                <a:spcPct val="90000"/>
              </a:lnSpc>
              <a:spcBef>
                <a:spcPts val="0"/>
              </a:spcBef>
              <a:spcAft>
                <a:spcPts val="0"/>
              </a:spcAft>
              <a:buNone/>
            </a:pPr>
            <a:r>
              <a:rPr lang="en-US" sz="2800" dirty="0">
                <a:solidFill>
                  <a:schemeClr val="dk1"/>
                </a:solidFill>
                <a:latin typeface="Arial Narrow"/>
                <a:ea typeface="Arial Narrow"/>
                <a:cs typeface="Arial Narrow"/>
                <a:sym typeface="Arial Narrow"/>
              </a:rPr>
              <a:t>Screenshot of Module - 3</a:t>
            </a:r>
            <a:endParaRPr dirty="0"/>
          </a:p>
        </p:txBody>
      </p:sp>
      <p:pic>
        <p:nvPicPr>
          <p:cNvPr id="2" name="Picture 1">
            <a:extLst>
              <a:ext uri="{FF2B5EF4-FFF2-40B4-BE49-F238E27FC236}">
                <a16:creationId xmlns:a16="http://schemas.microsoft.com/office/drawing/2014/main" id="{D5A72878-14F1-AF88-BA0F-16787FFF0BD1}"/>
              </a:ext>
            </a:extLst>
          </p:cNvPr>
          <p:cNvPicPr>
            <a:picLocks noChangeAspect="1"/>
          </p:cNvPicPr>
          <p:nvPr/>
        </p:nvPicPr>
        <p:blipFill>
          <a:blip r:embed="rId3"/>
          <a:stretch>
            <a:fillRect/>
          </a:stretch>
        </p:blipFill>
        <p:spPr>
          <a:xfrm>
            <a:off x="7409793" y="1083401"/>
            <a:ext cx="4604771" cy="4673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6"/>
          <p:cNvSpPr txBox="1">
            <a:spLocks noGrp="1"/>
          </p:cNvSpPr>
          <p:nvPr>
            <p:ph type="title"/>
          </p:nvPr>
        </p:nvSpPr>
        <p:spPr>
          <a:xfrm>
            <a:off x="0" y="250975"/>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IN" b="1" kern="100" dirty="0">
                <a:latin typeface="Times New Roman" panose="02020603050405020304" pitchFamily="18" charset="0"/>
                <a:ea typeface="Calibri" panose="020F0502020204030204" pitchFamily="34" charset="0"/>
                <a:cs typeface="Times New Roman" panose="02020603050405020304" pitchFamily="18" charset="0"/>
              </a:rPr>
              <a:t>PASSKEY GENERATION AND DECRYPTION MODULE</a:t>
            </a:r>
            <a:endParaRPr b="1" dirty="0">
              <a:latin typeface="Arial Narrow"/>
              <a:ea typeface="Arial Narrow"/>
              <a:cs typeface="Arial Narrow"/>
              <a:sym typeface="Arial Narrow"/>
            </a:endParaRPr>
          </a:p>
        </p:txBody>
      </p:sp>
      <p:sp>
        <p:nvSpPr>
          <p:cNvPr id="191" name="Google Shape;191;p26"/>
          <p:cNvSpPr txBox="1">
            <a:spLocks noGrp="1"/>
          </p:cNvSpPr>
          <p:nvPr>
            <p:ph type="body" idx="1"/>
          </p:nvPr>
        </p:nvSpPr>
        <p:spPr>
          <a:xfrm>
            <a:off x="-3822" y="1169317"/>
            <a:ext cx="7656546" cy="5362194"/>
          </a:xfrm>
          <a:prstGeom prst="rect">
            <a:avLst/>
          </a:prstGeom>
          <a:noFill/>
          <a:ln>
            <a:noFill/>
          </a:ln>
        </p:spPr>
        <p:txBody>
          <a:bodyPr spcFirstLastPara="1" wrap="square" lIns="91425" tIns="45700" rIns="91425" bIns="45700" anchor="t" anchorCtr="0">
            <a:normAutofit fontScale="92500"/>
          </a:bodyPr>
          <a:lstStyle/>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When the receiver receives the encrypted message, it will appear as a different or coded message. </a:t>
            </a:r>
          </a:p>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To read the original message, the receiver must click on the encrypted message. The system will then generate a unique passkey. </a:t>
            </a:r>
          </a:p>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After entering the correct passkey, the system decrypts the message and displays the original content. </a:t>
            </a:r>
          </a:p>
          <a:p>
            <a:pPr marL="0" lvl="0" indent="0" algn="just" rtl="0">
              <a:lnSpc>
                <a:spcPct val="90000"/>
              </a:lnSpc>
              <a:spcBef>
                <a:spcPts val="1000"/>
              </a:spcBef>
              <a:spcAft>
                <a:spcPts val="0"/>
              </a:spcAft>
              <a:buClr>
                <a:srgbClr val="FF0000"/>
              </a:buClr>
              <a:buSzPts val="2800"/>
              <a:buNone/>
            </a:pPr>
            <a:endParaRPr dirty="0">
              <a:latin typeface="Arial Narrow"/>
              <a:ea typeface="Arial Narrow"/>
              <a:cs typeface="Arial Narrow"/>
              <a:sym typeface="Arial Narrow"/>
            </a:endParaRPr>
          </a:p>
        </p:txBody>
      </p:sp>
      <p:sp>
        <p:nvSpPr>
          <p:cNvPr id="192" name="Google Shape;192;p2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14</a:t>
            </a:fld>
            <a:endParaRPr b="1">
              <a:solidFill>
                <a:schemeClr val="dk1"/>
              </a:solidFill>
            </a:endParaRPr>
          </a:p>
        </p:txBody>
      </p:sp>
      <p:sp>
        <p:nvSpPr>
          <p:cNvPr id="193" name="Google Shape;193;p26"/>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5" name="Google Shape;195;p26"/>
          <p:cNvSpPr txBox="1"/>
          <p:nvPr/>
        </p:nvSpPr>
        <p:spPr>
          <a:xfrm>
            <a:off x="7973412" y="6034325"/>
            <a:ext cx="3517200" cy="572700"/>
          </a:xfrm>
          <a:prstGeom prst="rect">
            <a:avLst/>
          </a:prstGeom>
          <a:noFill/>
          <a:ln>
            <a:noFill/>
          </a:ln>
        </p:spPr>
        <p:txBody>
          <a:bodyPr spcFirstLastPara="1" wrap="square" lIns="91425" tIns="91425" rIns="91425" bIns="91425" anchor="t" anchorCtr="0">
            <a:spAutoFit/>
          </a:bodyPr>
          <a:lstStyle/>
          <a:p>
            <a:pPr marL="0" lvl="0" indent="0" algn="just" rtl="0">
              <a:lnSpc>
                <a:spcPct val="90000"/>
              </a:lnSpc>
              <a:spcBef>
                <a:spcPts val="0"/>
              </a:spcBef>
              <a:spcAft>
                <a:spcPts val="0"/>
              </a:spcAft>
              <a:buNone/>
            </a:pPr>
            <a:r>
              <a:rPr lang="en-US" sz="2800" dirty="0">
                <a:solidFill>
                  <a:schemeClr val="dk1"/>
                </a:solidFill>
                <a:latin typeface="Arial Narrow"/>
                <a:ea typeface="Arial Narrow"/>
                <a:cs typeface="Arial Narrow"/>
                <a:sym typeface="Arial Narrow"/>
              </a:rPr>
              <a:t>Screenshot of Module - 4</a:t>
            </a:r>
            <a:endParaRPr dirty="0"/>
          </a:p>
        </p:txBody>
      </p:sp>
      <p:pic>
        <p:nvPicPr>
          <p:cNvPr id="2" name="Picture 1">
            <a:extLst>
              <a:ext uri="{FF2B5EF4-FFF2-40B4-BE49-F238E27FC236}">
                <a16:creationId xmlns:a16="http://schemas.microsoft.com/office/drawing/2014/main" id="{304B8DC2-96DA-C896-95DD-7E1286C8CFAA}"/>
              </a:ext>
            </a:extLst>
          </p:cNvPr>
          <p:cNvPicPr>
            <a:picLocks noChangeAspect="1"/>
          </p:cNvPicPr>
          <p:nvPr/>
        </p:nvPicPr>
        <p:blipFill>
          <a:blip r:embed="rId3"/>
          <a:stretch>
            <a:fillRect/>
          </a:stretch>
        </p:blipFill>
        <p:spPr>
          <a:xfrm>
            <a:off x="7652723" y="659656"/>
            <a:ext cx="4413957" cy="2588895"/>
          </a:xfrm>
          <a:prstGeom prst="rect">
            <a:avLst/>
          </a:prstGeom>
        </p:spPr>
      </p:pic>
      <p:pic>
        <p:nvPicPr>
          <p:cNvPr id="3" name="Picture 2">
            <a:extLst>
              <a:ext uri="{FF2B5EF4-FFF2-40B4-BE49-F238E27FC236}">
                <a16:creationId xmlns:a16="http://schemas.microsoft.com/office/drawing/2014/main" id="{9ADC7416-2A9A-4BB3-9836-DB499353522A}"/>
              </a:ext>
            </a:extLst>
          </p:cNvPr>
          <p:cNvPicPr>
            <a:picLocks noChangeAspect="1"/>
          </p:cNvPicPr>
          <p:nvPr/>
        </p:nvPicPr>
        <p:blipFill>
          <a:blip r:embed="rId4"/>
          <a:stretch>
            <a:fillRect/>
          </a:stretch>
        </p:blipFill>
        <p:spPr>
          <a:xfrm>
            <a:off x="7652722" y="3361090"/>
            <a:ext cx="4413957" cy="27089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7"/>
          <p:cNvSpPr txBox="1">
            <a:spLocks noGrp="1"/>
          </p:cNvSpPr>
          <p:nvPr>
            <p:ph type="title"/>
          </p:nvPr>
        </p:nvSpPr>
        <p:spPr>
          <a:xfrm>
            <a:off x="0" y="274649"/>
            <a:ext cx="12192000" cy="566400"/>
          </a:xfrm>
          <a:prstGeom prst="rect">
            <a:avLst/>
          </a:prstGeom>
          <a:noFill/>
          <a:ln>
            <a:noFill/>
          </a:ln>
        </p:spPr>
        <p:txBody>
          <a:bodyPr spcFirstLastPara="1" wrap="square" lIns="91425" tIns="45700" rIns="91425" bIns="45700" anchor="ctr" anchorCtr="0">
            <a:normAutofit fontScale="90000"/>
          </a:bodyPr>
          <a:lstStyle/>
          <a:p>
            <a:pPr lvl="0" algn="ctr">
              <a:buSzPct val="100000"/>
            </a:pPr>
            <a:r>
              <a:rPr lang="en-IN" b="1" kern="100" dirty="0">
                <a:latin typeface="Times New Roman" panose="02020603050405020304" pitchFamily="18" charset="0"/>
                <a:ea typeface="Calibri" panose="020F0502020204030204" pitchFamily="34" charset="0"/>
                <a:cs typeface="Times New Roman" panose="02020603050405020304" pitchFamily="18" charset="0"/>
              </a:rPr>
              <a:t>DATABASE AND SECRET KEY MANAGEMENT MODULE</a:t>
            </a:r>
            <a:endParaRPr b="1" dirty="0">
              <a:latin typeface="Arial Narrow"/>
              <a:ea typeface="Arial Narrow"/>
              <a:cs typeface="Arial Narrow"/>
              <a:sym typeface="Arial Narrow"/>
            </a:endParaRPr>
          </a:p>
        </p:txBody>
      </p:sp>
      <p:sp>
        <p:nvSpPr>
          <p:cNvPr id="201" name="Google Shape;201;p27"/>
          <p:cNvSpPr txBox="1">
            <a:spLocks noGrp="1"/>
          </p:cNvSpPr>
          <p:nvPr>
            <p:ph type="body" idx="1"/>
          </p:nvPr>
        </p:nvSpPr>
        <p:spPr>
          <a:xfrm>
            <a:off x="115859" y="1338597"/>
            <a:ext cx="7593479" cy="5244754"/>
          </a:xfrm>
          <a:prstGeom prst="rect">
            <a:avLst/>
          </a:prstGeom>
          <a:noFill/>
          <a:ln>
            <a:noFill/>
          </a:ln>
        </p:spPr>
        <p:txBody>
          <a:bodyPr spcFirstLastPara="1" wrap="square" lIns="91425" tIns="45700" rIns="91425" bIns="45700" anchor="t" anchorCtr="0">
            <a:normAutofit lnSpcReduction="10000"/>
          </a:bodyPr>
          <a:lstStyle/>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This module handles the storage and management of system data. User details, encrypted messages, and communication records are stored securely in a database. </a:t>
            </a:r>
          </a:p>
          <a:p>
            <a:pPr algn="just">
              <a:lnSpc>
                <a:spcPct val="150000"/>
              </a:lnSpc>
            </a:pPr>
            <a:r>
              <a:rPr lang="en-IN" kern="100" dirty="0">
                <a:latin typeface="Times New Roman" panose="02020603050405020304" pitchFamily="18" charset="0"/>
                <a:ea typeface="Calibri" panose="020F0502020204030204" pitchFamily="34" charset="0"/>
                <a:cs typeface="Times New Roman" panose="02020603050405020304" pitchFamily="18" charset="0"/>
              </a:rPr>
              <a:t>Proper key management ensures that only authorized processes can access the encryption keys, thereby protecting the confidentiality and integrity of the stored data.</a:t>
            </a:r>
            <a:endParaRPr lang="en-IN" sz="2400" kern="100" dirty="0">
              <a:latin typeface="Calibri" panose="020F0502020204030204" pitchFamily="34" charset="0"/>
              <a:ea typeface="Calibri" panose="020F0502020204030204" pitchFamily="34" charset="0"/>
              <a:cs typeface="Times New Roman" panose="02020603050405020304" pitchFamily="18" charset="0"/>
            </a:endParaRPr>
          </a:p>
          <a:p>
            <a:pPr marL="114300" indent="0" algn="just">
              <a:buNone/>
            </a:pPr>
            <a:endParaRPr lang="en-IN" dirty="0"/>
          </a:p>
          <a:p>
            <a:pPr marL="0" lvl="0" indent="0" algn="just" rtl="0">
              <a:lnSpc>
                <a:spcPct val="90000"/>
              </a:lnSpc>
              <a:spcBef>
                <a:spcPts val="1000"/>
              </a:spcBef>
              <a:spcAft>
                <a:spcPts val="0"/>
              </a:spcAft>
              <a:buClr>
                <a:srgbClr val="FF0000"/>
              </a:buClr>
              <a:buSzPts val="2800"/>
              <a:buNone/>
            </a:pPr>
            <a:endParaRPr dirty="0">
              <a:latin typeface="Arial Narrow"/>
              <a:ea typeface="Arial Narrow"/>
              <a:cs typeface="Arial Narrow"/>
              <a:sym typeface="Arial Narrow"/>
            </a:endParaRPr>
          </a:p>
        </p:txBody>
      </p:sp>
      <p:sp>
        <p:nvSpPr>
          <p:cNvPr id="202" name="Google Shape;202;p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b="1">
                <a:solidFill>
                  <a:schemeClr val="dk1"/>
                </a:solidFill>
              </a:rPr>
              <a:t>15</a:t>
            </a:fld>
            <a:endParaRPr b="1">
              <a:solidFill>
                <a:schemeClr val="dk1"/>
              </a:solidFill>
            </a:endParaRPr>
          </a:p>
        </p:txBody>
      </p:sp>
      <p:sp>
        <p:nvSpPr>
          <p:cNvPr id="203" name="Google Shape;203;p27"/>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05" name="Google Shape;205;p27"/>
          <p:cNvSpPr txBox="1"/>
          <p:nvPr/>
        </p:nvSpPr>
        <p:spPr>
          <a:xfrm>
            <a:off x="8223600" y="5947680"/>
            <a:ext cx="3517200" cy="572700"/>
          </a:xfrm>
          <a:prstGeom prst="rect">
            <a:avLst/>
          </a:prstGeom>
          <a:noFill/>
          <a:ln>
            <a:noFill/>
          </a:ln>
        </p:spPr>
        <p:txBody>
          <a:bodyPr spcFirstLastPara="1" wrap="square" lIns="91425" tIns="91425" rIns="91425" bIns="91425" anchor="t" anchorCtr="0">
            <a:spAutoFit/>
          </a:bodyPr>
          <a:lstStyle/>
          <a:p>
            <a:pPr marL="0" lvl="0" indent="0" algn="just" rtl="0">
              <a:lnSpc>
                <a:spcPct val="90000"/>
              </a:lnSpc>
              <a:spcBef>
                <a:spcPts val="0"/>
              </a:spcBef>
              <a:spcAft>
                <a:spcPts val="0"/>
              </a:spcAft>
              <a:buNone/>
            </a:pPr>
            <a:r>
              <a:rPr lang="en-US" sz="2800" dirty="0">
                <a:solidFill>
                  <a:schemeClr val="dk1"/>
                </a:solidFill>
                <a:latin typeface="Arial Narrow"/>
                <a:ea typeface="Arial Narrow"/>
                <a:cs typeface="Arial Narrow"/>
                <a:sym typeface="Arial Narrow"/>
              </a:rPr>
              <a:t>Screenshot of Module - 5</a:t>
            </a:r>
            <a:endParaRPr dirty="0"/>
          </a:p>
        </p:txBody>
      </p:sp>
      <p:pic>
        <p:nvPicPr>
          <p:cNvPr id="2" name="Picture 1">
            <a:extLst>
              <a:ext uri="{FF2B5EF4-FFF2-40B4-BE49-F238E27FC236}">
                <a16:creationId xmlns:a16="http://schemas.microsoft.com/office/drawing/2014/main" id="{BA1CED3E-767B-6487-6A11-9D983263073C}"/>
              </a:ext>
            </a:extLst>
          </p:cNvPr>
          <p:cNvPicPr>
            <a:picLocks noChangeAspect="1"/>
          </p:cNvPicPr>
          <p:nvPr/>
        </p:nvPicPr>
        <p:blipFill>
          <a:blip r:embed="rId3"/>
          <a:stretch>
            <a:fillRect/>
          </a:stretch>
        </p:blipFill>
        <p:spPr>
          <a:xfrm>
            <a:off x="7709338" y="732155"/>
            <a:ext cx="4366803" cy="2696845"/>
          </a:xfrm>
          <a:prstGeom prst="rect">
            <a:avLst/>
          </a:prstGeom>
        </p:spPr>
      </p:pic>
      <p:pic>
        <p:nvPicPr>
          <p:cNvPr id="3" name="Picture 2">
            <a:extLst>
              <a:ext uri="{FF2B5EF4-FFF2-40B4-BE49-F238E27FC236}">
                <a16:creationId xmlns:a16="http://schemas.microsoft.com/office/drawing/2014/main" id="{92B7C768-76F2-279B-4822-BEDF3397A024}"/>
              </a:ext>
            </a:extLst>
          </p:cNvPr>
          <p:cNvPicPr>
            <a:picLocks noChangeAspect="1"/>
          </p:cNvPicPr>
          <p:nvPr/>
        </p:nvPicPr>
        <p:blipFill>
          <a:blip r:embed="rId4"/>
          <a:stretch>
            <a:fillRect/>
          </a:stretch>
        </p:blipFill>
        <p:spPr>
          <a:xfrm>
            <a:off x="7709338" y="3581400"/>
            <a:ext cx="4366803" cy="23033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8"/>
          <p:cNvSpPr txBox="1">
            <a:spLocks noGrp="1"/>
          </p:cNvSpPr>
          <p:nvPr>
            <p:ph type="title"/>
          </p:nvPr>
        </p:nvSpPr>
        <p:spPr>
          <a:xfrm>
            <a:off x="0" y="0"/>
            <a:ext cx="12066900" cy="897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b="1" dirty="0">
                <a:latin typeface="Times New Roman" panose="02020603050405020304" pitchFamily="18" charset="0"/>
                <a:ea typeface="Arial Narrow"/>
                <a:cs typeface="Times New Roman" panose="02020603050405020304" pitchFamily="18" charset="0"/>
                <a:sym typeface="Arial Narrow"/>
              </a:rPr>
              <a:t>CONCLUSION</a:t>
            </a:r>
            <a:endParaRPr b="1" dirty="0">
              <a:latin typeface="Times New Roman" panose="02020603050405020304" pitchFamily="18" charset="0"/>
              <a:ea typeface="Arial Narrow"/>
              <a:cs typeface="Times New Roman" panose="02020603050405020304" pitchFamily="18" charset="0"/>
              <a:sym typeface="Arial Narrow"/>
            </a:endParaRPr>
          </a:p>
        </p:txBody>
      </p:sp>
      <p:sp>
        <p:nvSpPr>
          <p:cNvPr id="211" name="Google Shape;211;p28"/>
          <p:cNvSpPr txBox="1">
            <a:spLocks noGrp="1"/>
          </p:cNvSpPr>
          <p:nvPr>
            <p:ph type="body" idx="1"/>
          </p:nvPr>
        </p:nvSpPr>
        <p:spPr>
          <a:xfrm>
            <a:off x="551793" y="1198179"/>
            <a:ext cx="11177751" cy="5158171"/>
          </a:xfrm>
          <a:prstGeom prst="rect">
            <a:avLst/>
          </a:prstGeom>
          <a:noFill/>
          <a:ln>
            <a:noFill/>
          </a:ln>
        </p:spPr>
        <p:txBody>
          <a:bodyPr spcFirstLastPara="1" wrap="square" lIns="91425" tIns="45700" rIns="91425" bIns="45700" anchor="t" anchorCtr="0">
            <a:normAutofit fontScale="92500" lnSpcReduction="20000"/>
          </a:bodyPr>
          <a:lstStyle/>
          <a:p>
            <a:pPr indent="-457200" algn="just" eaLnBrk="0" fontAlgn="base" hangingPunct="0">
              <a:lnSpc>
                <a:spcPct val="17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The project develops a secure encrypted messaging system for safe communication. It provides user authentication through registration and login. Messages are encrypted before transmission to ensure data privacy. The passkey-based decryption adds an extra layer of security.</a:t>
            </a:r>
          </a:p>
          <a:p>
            <a:pPr indent="-457200" algn="just" eaLnBrk="0" fontAlgn="base" hangingPunct="0">
              <a:lnSpc>
                <a:spcPct val="17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The system helps to prevent unauthorized access to messages. Machine Learning is used to detect suspicious activities and spam messages. The system improves data confidentiality, integrity, and reliability. Overall, the proposed system provides a secure and intelligent messaging platform.</a:t>
            </a:r>
          </a:p>
          <a:p>
            <a:pPr marL="0" lvl="0" indent="0" algn="l" rtl="0">
              <a:lnSpc>
                <a:spcPct val="170000"/>
              </a:lnSpc>
              <a:spcBef>
                <a:spcPts val="0"/>
              </a:spcBef>
              <a:spcAft>
                <a:spcPts val="0"/>
              </a:spcAft>
              <a:buSzPts val="2800"/>
              <a:buNone/>
            </a:pPr>
            <a:endParaRPr dirty="0">
              <a:latin typeface="Arial Narrow"/>
              <a:ea typeface="Arial Narrow"/>
              <a:cs typeface="Arial Narrow"/>
              <a:sym typeface="Arial Narrow"/>
            </a:endParaRPr>
          </a:p>
        </p:txBody>
      </p:sp>
      <p:sp>
        <p:nvSpPr>
          <p:cNvPr id="212" name="Google Shape;212;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dk1"/>
                </a:solidFill>
              </a:rPr>
              <a:t>16</a:t>
            </a:fld>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9"/>
          <p:cNvSpPr txBox="1">
            <a:spLocks noGrp="1"/>
          </p:cNvSpPr>
          <p:nvPr>
            <p:ph type="title"/>
          </p:nvPr>
        </p:nvSpPr>
        <p:spPr>
          <a:xfrm>
            <a:off x="0" y="0"/>
            <a:ext cx="12066900" cy="897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b="1" dirty="0">
                <a:latin typeface="Times New Roman" panose="02020603050405020304" pitchFamily="18" charset="0"/>
                <a:ea typeface="Arial Narrow"/>
                <a:cs typeface="Times New Roman" panose="02020603050405020304" pitchFamily="18" charset="0"/>
                <a:sym typeface="Arial Narrow"/>
              </a:rPr>
              <a:t>FUTURE ENHANCEMENTS </a:t>
            </a:r>
            <a:endParaRPr b="1" dirty="0">
              <a:latin typeface="Times New Roman" panose="02020603050405020304" pitchFamily="18" charset="0"/>
              <a:ea typeface="Arial Narrow"/>
              <a:cs typeface="Times New Roman" panose="02020603050405020304" pitchFamily="18" charset="0"/>
              <a:sym typeface="Arial Narrow"/>
            </a:endParaRPr>
          </a:p>
        </p:txBody>
      </p:sp>
      <p:sp>
        <p:nvSpPr>
          <p:cNvPr id="218" name="Google Shape;218;p29"/>
          <p:cNvSpPr txBox="1">
            <a:spLocks noGrp="1"/>
          </p:cNvSpPr>
          <p:nvPr>
            <p:ph type="body" idx="1"/>
          </p:nvPr>
        </p:nvSpPr>
        <p:spPr>
          <a:xfrm>
            <a:off x="838200" y="1600200"/>
            <a:ext cx="10515600" cy="3657600"/>
          </a:xfrm>
          <a:prstGeom prst="rect">
            <a:avLst/>
          </a:prstGeom>
          <a:noFill/>
          <a:ln>
            <a:noFill/>
          </a:ln>
        </p:spPr>
        <p:txBody>
          <a:bodyPr spcFirstLastPara="1" wrap="square" lIns="91425" tIns="45700" rIns="91425" bIns="45700" anchor="t" anchorCtr="0">
            <a:normAutofit/>
          </a:bodyPr>
          <a:lstStyle/>
          <a:p>
            <a:pPr lvl="0" indent="-457200" algn="just" eaLnBrk="0" fontAlgn="base" hangingPunct="0">
              <a:lnSpc>
                <a:spcPct val="15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Develop a mobile application version (Android/iOS) for easier access. Add multi-factor authentication (OTP or biometric) for better user verification. </a:t>
            </a:r>
          </a:p>
          <a:p>
            <a:pPr lvl="0" indent="-457200" algn="just" eaLnBrk="0" fontAlgn="base" hangingPunct="0">
              <a:lnSpc>
                <a:spcPct val="150000"/>
              </a:lnSpc>
              <a:spcBef>
                <a:spcPct val="0"/>
              </a:spcBef>
              <a:spcAft>
                <a:spcPct val="0"/>
              </a:spcAft>
              <a:buClrTx/>
              <a:buSzTx/>
              <a:buFont typeface="+mj-lt"/>
              <a:buAutoNum type="arabicPeriod"/>
            </a:pPr>
            <a:r>
              <a:rPr lang="en-US" altLang="en-US" dirty="0">
                <a:solidFill>
                  <a:schemeClr val="tx1"/>
                </a:solidFill>
                <a:latin typeface="Times New Roman" panose="02020603050405020304" pitchFamily="18" charset="0"/>
                <a:cs typeface="Times New Roman" panose="02020603050405020304" pitchFamily="18" charset="0"/>
              </a:rPr>
              <a:t>Add real-time notifications and message status indicators. Improve the user interface for better user experience.</a:t>
            </a:r>
          </a:p>
        </p:txBody>
      </p:sp>
      <p:sp>
        <p:nvSpPr>
          <p:cNvPr id="219" name="Google Shape;219;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solidFill>
                  <a:schemeClr val="dk1"/>
                </a:solidFill>
              </a:rPr>
              <a:t>17</a:t>
            </a:fld>
            <a:endParaRPr>
              <a:solidFill>
                <a:schemeClr val="dk1"/>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1026</Words>
  <Application>Microsoft Office PowerPoint</Application>
  <PresentationFormat>Widescreen</PresentationFormat>
  <Paragraphs>124</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 Narrow</vt:lpstr>
      <vt:lpstr>Times New Roman</vt:lpstr>
      <vt:lpstr>Calibri</vt:lpstr>
      <vt:lpstr>Arial</vt:lpstr>
      <vt:lpstr>Office Theme</vt:lpstr>
      <vt:lpstr>PowerPoint Presentation</vt:lpstr>
      <vt:lpstr>PowerPoint Presentation</vt:lpstr>
      <vt:lpstr>OBJECTIVE OF THE PROJECT</vt:lpstr>
      <vt:lpstr>INTRODUCTION</vt:lpstr>
      <vt:lpstr>PowerPoint Presentation</vt:lpstr>
      <vt:lpstr>PowerPoint Presentation</vt:lpstr>
      <vt:lpstr>PowerPoint Presentation</vt:lpstr>
      <vt:lpstr>PowerPoint Presentation</vt:lpstr>
      <vt:lpstr>SOFTWARE AND HARDWARE REQUIREMENTS </vt:lpstr>
      <vt:lpstr>MODULES </vt:lpstr>
      <vt:lpstr>USER REGISTRATION AND LOGIN MODULE</vt:lpstr>
      <vt:lpstr>MESSAGE REQUEST AND ACCEPTANCE MODULE</vt:lpstr>
      <vt:lpstr>MESSAGE ENCRYPTION MODULE</vt:lpstr>
      <vt:lpstr>PASSKEY GENERATION AND DECRYPTION MODULE</vt:lpstr>
      <vt:lpstr>DATABASE AND SECRET KEY MANAGEMENT MODULE</vt:lpstr>
      <vt:lpstr>CONCLUSION</vt:lpstr>
      <vt:lpstr>FUTURE ENHANCEMENTS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acer</dc:creator>
  <cp:lastModifiedBy>S0394263</cp:lastModifiedBy>
  <cp:revision>3</cp:revision>
  <dcterms:modified xsi:type="dcterms:W3CDTF">2026-03-29T05:48:39Z</dcterms:modified>
</cp:coreProperties>
</file>