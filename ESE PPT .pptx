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Arial Narrow" panose="020B0606020202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D3315C-5BBF-4F93-85FC-E1C3DE0A209C}">
  <a:tblStyle styleId="{B0D3315C-5BBF-4F93-85FC-E1C3DE0A209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b="off" i="off"/>
      <a:tcStyle>
        <a:tcBdr/>
        <a:fill>
          <a:solidFill>
            <a:srgbClr val="D4E2CE"/>
          </a:solidFill>
        </a:fill>
      </a:tcStyle>
    </a:band1H>
    <a:band2H>
      <a:tcTxStyle b="off" i="off"/>
      <a:tcStyle>
        <a:tcBdr/>
      </a:tcStyle>
    </a:band2H>
    <a:band1V>
      <a:tcTxStyle b="off" i="off"/>
      <a:tcStyle>
        <a:tcBdr/>
        <a:fill>
          <a:solidFill>
            <a:srgbClr val="D4E2CE"/>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d29cd15bd2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g3d29cd15bd2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29cd15bd2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d29cd15bd2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d29cd15bd2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d29cd15bd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d29cd15bd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3d29cd15bd2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document/10793114" TargetMode="External"/><Relationship Id="rId7" Type="http://schemas.openxmlformats.org/officeDocument/2006/relationships/hyperlink" Target="https://engrxiv.org/preprint/view/4177"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link.springer.com/article/10.1007/s11042-021-11751-w" TargetMode="External"/><Relationship Id="rId5" Type="http://schemas.openxmlformats.org/officeDocument/2006/relationships/hyperlink" Target="https://arxiv.org/abs/2305.16163" TargetMode="External"/><Relationship Id="rId4" Type="http://schemas.openxmlformats.org/officeDocument/2006/relationships/hyperlink" Target="https://ieeexplore.ieee.org/document/1111691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DEPARTMENT OF COMPUTER SCIENCE AND ENGINEERING</a:t>
            </a:r>
            <a:endParaRPr dirty="0">
              <a:latin typeface="Arial Narrow"/>
              <a:ea typeface="Arial Narrow"/>
              <a:cs typeface="Arial Narrow"/>
              <a:sym typeface="Arial Narrow"/>
            </a:endParaRPr>
          </a:p>
          <a:p>
            <a:pPr marL="0" lvl="0" indent="0" algn="ctr" rtl="0">
              <a:lnSpc>
                <a:spcPct val="90000"/>
              </a:lnSpc>
              <a:spcBef>
                <a:spcPts val="1000"/>
              </a:spcBef>
              <a:spcAft>
                <a:spcPts val="0"/>
              </a:spcAft>
              <a:buSzPts val="3600"/>
              <a:buNone/>
            </a:pPr>
            <a:r>
              <a:rPr lang="en-US" b="1" dirty="0">
                <a:latin typeface="Arial Narrow"/>
                <a:ea typeface="Arial Narrow"/>
                <a:cs typeface="Arial Narrow"/>
                <a:sym typeface="Arial Narrow"/>
              </a:rPr>
              <a:t>20CS8504 &amp; PROJECT WORK</a:t>
            </a:r>
            <a:endParaRPr b="1" dirty="0">
              <a:latin typeface="Arial Narrow"/>
              <a:ea typeface="Arial Narrow"/>
              <a:cs typeface="Arial Narrow"/>
              <a:sym typeface="Arial Narrow"/>
            </a:endParaRPr>
          </a:p>
          <a:p>
            <a:pPr marL="0" lvl="0" indent="0" algn="ctr" rtl="0">
              <a:lnSpc>
                <a:spcPct val="90000"/>
              </a:lnSpc>
              <a:spcBef>
                <a:spcPts val="1000"/>
              </a:spcBef>
              <a:spcAft>
                <a:spcPts val="0"/>
              </a:spcAft>
              <a:buSzPts val="3600"/>
              <a:buNone/>
            </a:pPr>
            <a:r>
              <a:rPr lang="en-US" b="1" dirty="0">
                <a:latin typeface="Arial Narrow"/>
                <a:ea typeface="Arial Narrow"/>
                <a:cs typeface="Arial Narrow"/>
                <a:sym typeface="Arial Narrow"/>
              </a:rPr>
              <a:t>END SEMESTER PRACTICAL EXAMINATION- APRIL  – 2026</a:t>
            </a:r>
          </a:p>
          <a:p>
            <a:pPr marL="0" lvl="0" indent="0" algn="ctr" rtl="0">
              <a:lnSpc>
                <a:spcPct val="90000"/>
              </a:lnSpc>
              <a:spcBef>
                <a:spcPts val="1000"/>
              </a:spcBef>
              <a:spcAft>
                <a:spcPts val="0"/>
              </a:spcAft>
              <a:buSzPts val="3600"/>
              <a:buNone/>
            </a:pPr>
            <a:endParaRPr dirty="0">
              <a:latin typeface="Arial Narrow"/>
              <a:ea typeface="Arial Narrow"/>
              <a:cs typeface="Arial Narrow"/>
              <a:sym typeface="Arial Narrow"/>
            </a:endParaRPr>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Batch No.:</a:t>
            </a:r>
            <a:r>
              <a:rPr lang="en-IN" sz="2400" b="1" dirty="0">
                <a:latin typeface="Arial Narrow"/>
                <a:ea typeface="Arial Narrow"/>
                <a:cs typeface="Arial Narrow"/>
                <a:sym typeface="Arial Narrow"/>
              </a:rPr>
              <a:t> 13</a:t>
            </a:r>
            <a:endParaRPr dirty="0">
              <a:latin typeface="Arial Narrow"/>
              <a:ea typeface="Arial Narrow"/>
              <a:cs typeface="Arial Narrow"/>
              <a:sym typeface="Arial Narrow"/>
            </a:endParaRPr>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Date: 30/03/2026</a:t>
            </a:r>
            <a:endParaRPr dirty="0"/>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Session: AN</a:t>
            </a:r>
            <a:endParaRPr b="1" dirty="0">
              <a:latin typeface="Arial Narrow"/>
              <a:ea typeface="Arial Narrow"/>
              <a:cs typeface="Arial Narrow"/>
              <a:sym typeface="Arial Narrow"/>
            </a:endParaRPr>
          </a:p>
        </p:txBody>
      </p:sp>
      <p:sp>
        <p:nvSpPr>
          <p:cNvPr id="89" name="Google Shape;8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Times New Roman"/>
                <a:ea typeface="Times New Roman"/>
                <a:cs typeface="Times New Roman"/>
                <a:sym typeface="Times New Roman"/>
              </a:rPr>
              <a:t>1</a:t>
            </a:fld>
            <a:endParaRPr b="1">
              <a:solidFill>
                <a:schemeClr val="dk1"/>
              </a:solidFill>
              <a:latin typeface="Times New Roman"/>
              <a:ea typeface="Times New Roman"/>
              <a:cs typeface="Times New Roman"/>
              <a:sym typeface="Times New Roman"/>
            </a:endParaRPr>
          </a:p>
        </p:txBody>
      </p:sp>
      <p:pic>
        <p:nvPicPr>
          <p:cNvPr id="90" name="Google Shape;90;p13"/>
          <p:cNvPicPr preferRelativeResize="0"/>
          <p:nvPr/>
        </p:nvPicPr>
        <p:blipFill rotWithShape="1">
          <a:blip r:embed="rId3">
            <a:alphaModFix/>
          </a:blip>
          <a:srcRect l="16357" r="14907" b="8148"/>
          <a:stretch/>
        </p:blipFill>
        <p:spPr>
          <a:xfrm>
            <a:off x="11215585" y="65332"/>
            <a:ext cx="903515" cy="511635"/>
          </a:xfrm>
          <a:prstGeom prst="rect">
            <a:avLst/>
          </a:prstGeom>
          <a:noFill/>
          <a:ln>
            <a:noFill/>
          </a:ln>
        </p:spPr>
      </p:pic>
      <p:pic>
        <p:nvPicPr>
          <p:cNvPr id="91" name="Google Shape;91;p13"/>
          <p:cNvPicPr preferRelativeResize="0"/>
          <p:nvPr/>
        </p:nvPicPr>
        <p:blipFill rotWithShape="1">
          <a:blip r:embed="rId4">
            <a:alphaModFix/>
          </a:blip>
          <a:srcRect/>
          <a:stretch/>
        </p:blipFill>
        <p:spPr>
          <a:xfrm>
            <a:off x="104932" y="0"/>
            <a:ext cx="5348811" cy="18735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body" idx="1"/>
          </p:nvPr>
        </p:nvSpPr>
        <p:spPr>
          <a:xfrm>
            <a:off x="157655" y="-1"/>
            <a:ext cx="11887200" cy="1639615"/>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1000"/>
              </a:spcBef>
              <a:spcAft>
                <a:spcPts val="0"/>
              </a:spcAft>
              <a:buClr>
                <a:schemeClr val="dk1"/>
              </a:buClr>
              <a:buSzPts val="3600"/>
              <a:buNone/>
            </a:pPr>
            <a:r>
              <a:rPr lang="en-US" sz="4400" b="1" dirty="0">
                <a:latin typeface="Times New Roman" panose="02020603050405020304" pitchFamily="18" charset="0"/>
                <a:ea typeface="Arial Narrow"/>
                <a:cs typeface="Times New Roman" panose="02020603050405020304" pitchFamily="18" charset="0"/>
                <a:sym typeface="Arial Narrow"/>
              </a:rPr>
              <a:t>A Secure And Privacy-Preserving Framework for Cross-Domain Data Sharing Using ML</a:t>
            </a:r>
          </a:p>
          <a:p>
            <a:pPr marL="0" lvl="0" indent="0" algn="ctr" rtl="0">
              <a:lnSpc>
                <a:spcPct val="150000"/>
              </a:lnSpc>
              <a:spcBef>
                <a:spcPts val="1000"/>
              </a:spcBef>
              <a:spcAft>
                <a:spcPts val="0"/>
              </a:spcAft>
              <a:buClr>
                <a:schemeClr val="dk1"/>
              </a:buClr>
              <a:buSzPts val="3600"/>
              <a:buNone/>
            </a:pPr>
            <a:endParaRPr lang="en-US" sz="3600" b="1" dirty="0">
              <a:latin typeface="Arial Narrow"/>
              <a:ea typeface="Arial Narrow"/>
              <a:cs typeface="Arial Narrow"/>
              <a:sym typeface="Arial Narrow"/>
            </a:endParaRPr>
          </a:p>
        </p:txBody>
      </p:sp>
      <p:sp>
        <p:nvSpPr>
          <p:cNvPr id="97" name="Google Shape;9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14"/>
          <p:cNvSpPr txBox="1">
            <a:spLocks noGrp="1"/>
          </p:cNvSpPr>
          <p:nvPr>
            <p:ph type="body" idx="1"/>
          </p:nvPr>
        </p:nvSpPr>
        <p:spPr>
          <a:xfrm>
            <a:off x="399910" y="3814012"/>
            <a:ext cx="6016656"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b="1" dirty="0">
                <a:latin typeface="Times New Roman" panose="02020603050405020304" pitchFamily="18" charset="0"/>
                <a:ea typeface="Arial Narrow"/>
                <a:cs typeface="Times New Roman" panose="02020603050405020304" pitchFamily="18" charset="0"/>
                <a:sym typeface="Arial Narrow"/>
              </a:rPr>
              <a:t>Guide Name:</a:t>
            </a:r>
          </a:p>
          <a:p>
            <a:pPr marL="0" indent="0">
              <a:buSzPts val="2400"/>
              <a:buNone/>
            </a:pPr>
            <a:r>
              <a:rPr lang="en-US" b="1" dirty="0" err="1">
                <a:latin typeface="Times New Roman" panose="02020603050405020304" pitchFamily="18" charset="0"/>
                <a:ea typeface="Times New Roman"/>
                <a:cs typeface="Times New Roman" panose="02020603050405020304" pitchFamily="18" charset="0"/>
                <a:sym typeface="Times New Roman"/>
              </a:rPr>
              <a:t>Mrs.A.Dhivya</a:t>
            </a:r>
            <a:r>
              <a:rPr lang="en-US" b="1" dirty="0">
                <a:latin typeface="Times New Roman" panose="02020603050405020304" pitchFamily="18" charset="0"/>
                <a:ea typeface="Times New Roman"/>
                <a:cs typeface="Times New Roman" panose="02020603050405020304" pitchFamily="18" charset="0"/>
                <a:sym typeface="Times New Roman"/>
              </a:rPr>
              <a:t> Bharathi, M.E.,(Ph.D.,)</a:t>
            </a:r>
          </a:p>
          <a:p>
            <a:pPr marL="0" lvl="0" indent="0" algn="l" rtl="0">
              <a:lnSpc>
                <a:spcPct val="90000"/>
              </a:lnSpc>
              <a:spcBef>
                <a:spcPts val="1000"/>
              </a:spcBef>
              <a:spcAft>
                <a:spcPts val="0"/>
              </a:spcAft>
              <a:buClr>
                <a:schemeClr val="dk1"/>
              </a:buClr>
              <a:buSzPts val="2400"/>
              <a:buNone/>
            </a:pPr>
            <a:endParaRPr lang="en-US" b="1" dirty="0">
              <a:latin typeface="Times New Roman" panose="02020603050405020304" pitchFamily="18" charset="0"/>
              <a:ea typeface="Arial Narrow"/>
              <a:cs typeface="Times New Roman" panose="02020603050405020304" pitchFamily="18" charset="0"/>
              <a:sym typeface="Arial Narrow"/>
            </a:endParaRPr>
          </a:p>
        </p:txBody>
      </p:sp>
      <p:sp>
        <p:nvSpPr>
          <p:cNvPr id="99" name="Google Shape;99;p14"/>
          <p:cNvSpPr txBox="1">
            <a:spLocks noGrp="1"/>
          </p:cNvSpPr>
          <p:nvPr>
            <p:ph type="body" idx="1"/>
          </p:nvPr>
        </p:nvSpPr>
        <p:spPr>
          <a:xfrm>
            <a:off x="6684580" y="3631450"/>
            <a:ext cx="5235926"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b="1" dirty="0">
                <a:latin typeface="Times New Roman" panose="02020603050405020304" pitchFamily="18" charset="0"/>
                <a:ea typeface="Arial Narrow"/>
                <a:cs typeface="Times New Roman" panose="02020603050405020304" pitchFamily="18" charset="0"/>
                <a:sym typeface="Arial Narrow"/>
              </a:rPr>
              <a:t>Team Members:</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811722104028 - Devadharshini S</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811722104037 - Elakkiya A</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811722104042 - Gayathri M</a:t>
            </a:r>
          </a:p>
          <a:p>
            <a:pPr marL="0" lvl="0" indent="0" algn="l" rtl="0">
              <a:lnSpc>
                <a:spcPct val="90000"/>
              </a:lnSpc>
              <a:spcBef>
                <a:spcPts val="1000"/>
              </a:spcBef>
              <a:spcAft>
                <a:spcPts val="0"/>
              </a:spcAft>
              <a:buClr>
                <a:schemeClr val="dk1"/>
              </a:buClr>
              <a:buSzPts val="2400"/>
              <a:buNone/>
            </a:pPr>
            <a:endParaRPr lang="en-US" b="1" dirty="0">
              <a:latin typeface="Times New Roman" panose="02020603050405020304" pitchFamily="18" charset="0"/>
              <a:ea typeface="Arial Narrow"/>
              <a:cs typeface="Times New Roman" panose="02020603050405020304" pitchFamily="18" charset="0"/>
              <a:sym typeface="Arial Narro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OBJECTIVE OF THE PROJECT</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05" name="Google Shape;105;p15"/>
          <p:cNvSpPr txBox="1">
            <a:spLocks noGrp="1"/>
          </p:cNvSpPr>
          <p:nvPr>
            <p:ph type="body" idx="1"/>
          </p:nvPr>
        </p:nvSpPr>
        <p:spPr>
          <a:xfrm>
            <a:off x="838200" y="1198173"/>
            <a:ext cx="10515600" cy="4909503"/>
          </a:xfrm>
          <a:prstGeom prst="rect">
            <a:avLst/>
          </a:prstGeom>
          <a:noFill/>
          <a:ln>
            <a:noFill/>
          </a:ln>
        </p:spPr>
        <p:txBody>
          <a:bodyPr spcFirstLastPara="1" wrap="square" lIns="91425" tIns="45700" rIns="91425" bIns="45700" anchor="t" anchorCtr="0">
            <a:noAutofit/>
          </a:bodyPr>
          <a:lstStyle/>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develop a secure encrypted messaging system for safe       </a:t>
            </a:r>
            <a:r>
              <a:rPr lang="en-IN"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communication.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implement user authentication through registration and login.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provide passkey-based decryption for accessing messages.</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implement message request and acceptance to avoid spam   communication.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integrate Machine Learning for detecting suspicious activities.</a:t>
            </a:r>
          </a:p>
          <a:p>
            <a:pPr marL="342900" lvl="0" algn="just" eaLnBrk="0" fontAlgn="base" hangingPunct="0">
              <a:lnSpc>
                <a:spcPct val="160000"/>
              </a:lnSpc>
              <a:spcBef>
                <a:spcPct val="0"/>
              </a:spcBef>
              <a:spcAft>
                <a:spcPct val="0"/>
              </a:spcAft>
              <a:buClrTx/>
              <a:buSzTx/>
              <a:buFont typeface="+mj-lt"/>
              <a:buAutoNum type="arabicPeriod"/>
            </a:pPr>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06" name="Google Shape;10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3</a:t>
            </a:fld>
            <a:endParaRPr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0" y="0"/>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INTRODUCTION</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12" name="Google Shape;112;p16"/>
          <p:cNvSpPr txBox="1">
            <a:spLocks noGrp="1"/>
          </p:cNvSpPr>
          <p:nvPr>
            <p:ph type="body" idx="1"/>
          </p:nvPr>
        </p:nvSpPr>
        <p:spPr>
          <a:xfrm>
            <a:off x="630621" y="809999"/>
            <a:ext cx="11114689" cy="5911475"/>
          </a:xfrm>
          <a:prstGeom prst="rect">
            <a:avLst/>
          </a:prstGeom>
          <a:noFill/>
          <a:ln>
            <a:noFill/>
          </a:ln>
        </p:spPr>
        <p:txBody>
          <a:bodyPr spcFirstLastPara="1" wrap="square" lIns="91425" tIns="45700" rIns="91425" bIns="45700" anchor="t" anchorCtr="0">
            <a:noAutofit/>
          </a:bodyPr>
          <a:lstStyle/>
          <a:p>
            <a:pPr marL="514350" lvl="0" indent="-514350" algn="just" eaLnBrk="0" fontAlgn="base" hangingPunct="0">
              <a:lnSpc>
                <a:spcPct val="150000"/>
              </a:lnSpc>
              <a:spcBef>
                <a:spcPct val="0"/>
              </a:spcBef>
              <a:spcAft>
                <a:spcPct val="0"/>
              </a:spcAft>
              <a:buClrTx/>
              <a:buSzTx/>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In today’s digital world, online communication has become an essential   part of daily life.</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Messaging platforms are widely used for personal, educational, and professional communication.</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However, many messaging systems face security risks such as data breaches and unauthorized access.</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Sensitive information shared through messages can be intercepted or misused by attackers.</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There is a need for a secure communication system that protects user privacy and data.</a:t>
            </a:r>
          </a:p>
          <a:p>
            <a:pPr marL="0" lvl="0" indent="0" algn="l" rtl="0">
              <a:lnSpc>
                <a:spcPct val="90000"/>
              </a:lnSpc>
              <a:spcBef>
                <a:spcPts val="0"/>
              </a:spcBef>
              <a:spcAft>
                <a:spcPts val="0"/>
              </a:spcAft>
              <a:buClr>
                <a:schemeClr val="dk1"/>
              </a:buClr>
              <a:buSzPts val="2800"/>
              <a:buNone/>
            </a:pPr>
            <a:endParaRPr lang="en-US" sz="2600" dirty="0">
              <a:latin typeface="Arial Narrow"/>
              <a:ea typeface="Arial Narrow"/>
              <a:cs typeface="Arial Narrow"/>
              <a:sym typeface="Arial Narrow"/>
            </a:endParaRPr>
          </a:p>
        </p:txBody>
      </p:sp>
      <p:sp>
        <p:nvSpPr>
          <p:cNvPr id="113" name="Google Shape;11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88888"/>
              </a:solidFill>
              <a:latin typeface="Calibri"/>
              <a:ea typeface="Calibri"/>
              <a:cs typeface="Calibri"/>
              <a:sym typeface="Calibri"/>
            </a:endParaRPr>
          </a:p>
        </p:txBody>
      </p:sp>
      <p:sp>
        <p:nvSpPr>
          <p:cNvPr id="119" name="Google Shape;11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5</a:t>
            </a:fld>
            <a:endParaRPr b="1">
              <a:solidFill>
                <a:schemeClr val="dk1"/>
              </a:solidFill>
            </a:endParaRPr>
          </a:p>
        </p:txBody>
      </p:sp>
      <p:sp>
        <p:nvSpPr>
          <p:cNvPr id="120" name="Google Shape;120;p17"/>
          <p:cNvSpPr/>
          <p:nvPr/>
        </p:nvSpPr>
        <p:spPr>
          <a:xfrm>
            <a:off x="68855" y="0"/>
            <a:ext cx="12054300" cy="708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LITERATURE</a:t>
            </a:r>
            <a:r>
              <a:rPr lang="en-US" sz="40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 </a:t>
            </a: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SURVEY</a:t>
            </a:r>
            <a:endParaRPr sz="4400" b="0" i="0" u="none" strike="noStrike" cap="none" dirty="0">
              <a:solidFill>
                <a:srgbClr val="000000"/>
              </a:solidFill>
              <a:latin typeface="Times New Roman" panose="02020603050405020304" pitchFamily="18" charset="0"/>
              <a:ea typeface="Arial Narrow"/>
              <a:cs typeface="Times New Roman" panose="02020603050405020304" pitchFamily="18" charset="0"/>
              <a:sym typeface="Arial Narrow"/>
            </a:endParaRPr>
          </a:p>
        </p:txBody>
      </p:sp>
      <p:graphicFrame>
        <p:nvGraphicFramePr>
          <p:cNvPr id="121" name="Google Shape;121;p17"/>
          <p:cNvGraphicFramePr/>
          <p:nvPr>
            <p:extLst>
              <p:ext uri="{D42A27DB-BD31-4B8C-83A1-F6EECF244321}">
                <p14:modId xmlns:p14="http://schemas.microsoft.com/office/powerpoint/2010/main" val="2337192993"/>
              </p:ext>
            </p:extLst>
          </p:nvPr>
        </p:nvGraphicFramePr>
        <p:xfrm>
          <a:off x="65690" y="708000"/>
          <a:ext cx="12054300" cy="6568619"/>
        </p:xfrm>
        <a:graphic>
          <a:graphicData uri="http://schemas.openxmlformats.org/drawingml/2006/table">
            <a:tbl>
              <a:tblPr firstRow="1" bandRow="1">
                <a:noFill/>
                <a:tableStyleId>{B0D3315C-5BBF-4F93-85FC-E1C3DE0A209C}</a:tableStyleId>
              </a:tblPr>
              <a:tblGrid>
                <a:gridCol w="3111535">
                  <a:extLst>
                    <a:ext uri="{9D8B030D-6E8A-4147-A177-3AD203B41FA5}">
                      <a16:colId xmlns:a16="http://schemas.microsoft.com/office/drawing/2014/main" val="20000"/>
                    </a:ext>
                  </a:extLst>
                </a:gridCol>
                <a:gridCol w="2953828">
                  <a:extLst>
                    <a:ext uri="{9D8B030D-6E8A-4147-A177-3AD203B41FA5}">
                      <a16:colId xmlns:a16="http://schemas.microsoft.com/office/drawing/2014/main" val="20001"/>
                    </a:ext>
                  </a:extLst>
                </a:gridCol>
                <a:gridCol w="2953828">
                  <a:extLst>
                    <a:ext uri="{9D8B030D-6E8A-4147-A177-3AD203B41FA5}">
                      <a16:colId xmlns:a16="http://schemas.microsoft.com/office/drawing/2014/main" val="20002"/>
                    </a:ext>
                  </a:extLst>
                </a:gridCol>
                <a:gridCol w="3035109">
                  <a:extLst>
                    <a:ext uri="{9D8B030D-6E8A-4147-A177-3AD203B41FA5}">
                      <a16:colId xmlns:a16="http://schemas.microsoft.com/office/drawing/2014/main" val="20003"/>
                    </a:ext>
                  </a:extLst>
                </a:gridCol>
              </a:tblGrid>
              <a:tr h="42535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TITLE OF PAPER</a:t>
                      </a:r>
                      <a:endParaRPr sz="24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AUTHOR(S)</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PAPER GIST</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TECHNOLOGY USED</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0"/>
                  </a:ext>
                </a:extLst>
              </a:tr>
              <a:tr h="850701">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hlinkClick r:id="rId3"/>
                        </a:rPr>
                        <a:t>Privacy Passport: Privacy-Preserving Cross-Domain Data Sharing</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Xue Chen, Cheng Wang, Qing Yang, Teng Hu, </a:t>
                      </a: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Changjun</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Jiang</a:t>
                      </a:r>
                      <a:endParaRPr lang="en-IN" sz="1600" b="0" cap="none" spc="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IEEE Transactions on Information Forensics and Security, 2025</a:t>
                      </a: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cap="none" spc="0" dirty="0">
                          <a:solidFill>
                            <a:schemeClr val="tx1"/>
                          </a:solidFill>
                          <a:latin typeface="Times New Roman" panose="02020603050405020304" pitchFamily="18" charset="0"/>
                          <a:cs typeface="Times New Roman" panose="02020603050405020304" pitchFamily="18" charset="0"/>
                        </a:rPr>
                        <a:t>Attribute-Based Access Control ,Cryptographic policy translation</a:t>
                      </a:r>
                      <a:endParaRPr lang="en-US" sz="1600" u="none" strike="noStrike" cap="none" spc="0" dirty="0">
                        <a:solidFill>
                          <a:schemeClr val="dk1"/>
                        </a:solidFill>
                        <a:latin typeface="Times New Roman" panose="02020603050405020304" pitchFamily="18" charset="0"/>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1"/>
                  </a:ext>
                </a:extLst>
              </a:tr>
              <a:tr h="136111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4"/>
                        </a:rPr>
                        <a:t>Federated Learning for Cross-Domain Data Privacy: A Distributed Approach to Secure Collaboration</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Yiwei Zhang, Jie Liu, Jiawei Wang, Lu Dai, Fan Guo,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Guohui</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Cai</a:t>
                      </a:r>
                      <a:endParaRPr kumimoji="0" lang="de-DE"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2025</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Federated Learning (FL) ,Secure aggregation protocols ,Local model training </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2"/>
                  </a:ext>
                </a:extLst>
              </a:tr>
              <a:tr h="136111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PPGenCDR</a:t>
                      </a: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5"/>
                        </a:rPr>
                        <a:t>: A Stable and Robust Framework for Privacy-Preserving Cross-Domain Recommendation</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Xinting Liao, Weiming Liu, Xiaolin Zheng,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Binhui</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Yao,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Chaochao</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Chen</a:t>
                      </a:r>
                      <a:endParaRPr kumimoji="0" lang="da-DK"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2023</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Generative Adversarial Networks , Differential Privacy ,Cross-domain representation learning.</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3"/>
                  </a:ext>
                </a:extLst>
              </a:tr>
              <a:tr h="1105908">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6"/>
                        </a:rPr>
                        <a:t>A Privacy-Preserving Model based on Differential Approach for Sensitive Data in Cloud Environment</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Ashutosh Kumar Singh &amp; Rishabh Gupta</a:t>
                      </a: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2022</a:t>
                      </a:r>
                      <a:endParaRPr lang="en-US"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Differential Privacy (Laplace &amp; Gaussian noise mechanisms).</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5"/>
                  </a:ext>
                </a:extLst>
              </a:tr>
              <a:tr h="402993">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7"/>
                        </a:rPr>
                        <a:t>Federated Learning for Privacy-Preserving AI: Revolutionizing Data Sharing Across Industries</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Sharathchandra Patil , K Sai Geethanjali , Nidhi Umashankar </a:t>
                      </a:r>
                      <a:endPar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AAMAS 2019 </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Secure Multi-Party Computation, Federated optimization, Distributed Constraint.</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319847332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6</a:t>
            </a:fld>
            <a:endParaRPr b="1">
              <a:solidFill>
                <a:schemeClr val="dk1"/>
              </a:solidFill>
            </a:endParaRPr>
          </a:p>
        </p:txBody>
      </p:sp>
      <p:sp>
        <p:nvSpPr>
          <p:cNvPr id="127" name="Google Shape;127;p18"/>
          <p:cNvSpPr txBox="1"/>
          <p:nvPr/>
        </p:nvSpPr>
        <p:spPr>
          <a:xfrm>
            <a:off x="-1" y="0"/>
            <a:ext cx="123456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EXISTING SYSTEM ARCHITECTURE</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pic>
        <p:nvPicPr>
          <p:cNvPr id="2" name="Picture 1">
            <a:extLst>
              <a:ext uri="{FF2B5EF4-FFF2-40B4-BE49-F238E27FC236}">
                <a16:creationId xmlns:a16="http://schemas.microsoft.com/office/drawing/2014/main" id="{FA39AC83-C81E-90FD-2770-FCFFE9CA71B2}"/>
              </a:ext>
            </a:extLst>
          </p:cNvPr>
          <p:cNvPicPr>
            <a:picLocks noChangeAspect="1"/>
          </p:cNvPicPr>
          <p:nvPr/>
        </p:nvPicPr>
        <p:blipFill>
          <a:blip r:embed="rId3"/>
          <a:stretch>
            <a:fillRect/>
          </a:stretch>
        </p:blipFill>
        <p:spPr>
          <a:xfrm>
            <a:off x="1145627" y="1390097"/>
            <a:ext cx="9900745" cy="44116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7</a:t>
            </a:fld>
            <a:endParaRPr b="1">
              <a:solidFill>
                <a:schemeClr val="dk1"/>
              </a:solidFill>
            </a:endParaRPr>
          </a:p>
        </p:txBody>
      </p:sp>
      <p:sp>
        <p:nvSpPr>
          <p:cNvPr id="133" name="Google Shape;133;p19"/>
          <p:cNvSpPr txBox="1"/>
          <p:nvPr/>
        </p:nvSpPr>
        <p:spPr>
          <a:xfrm>
            <a:off x="-1" y="0"/>
            <a:ext cx="123456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PROBLEM IDENTIFI</a:t>
            </a:r>
            <a:r>
              <a:rPr lang="en-US" sz="4400" b="1" dirty="0">
                <a:solidFill>
                  <a:schemeClr val="dk1"/>
                </a:solidFill>
                <a:latin typeface="Times New Roman" panose="02020603050405020304" pitchFamily="18" charset="0"/>
                <a:ea typeface="Arial Narrow"/>
                <a:cs typeface="Times New Roman" panose="02020603050405020304" pitchFamily="18" charset="0"/>
                <a:sym typeface="Arial Narrow"/>
              </a:rPr>
              <a:t>ED</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sp>
        <p:nvSpPr>
          <p:cNvPr id="134" name="Google Shape;134;p19"/>
          <p:cNvSpPr txBox="1"/>
          <p:nvPr/>
        </p:nvSpPr>
        <p:spPr>
          <a:xfrm>
            <a:off x="702129" y="1615087"/>
            <a:ext cx="9387802" cy="3323946"/>
          </a:xfrm>
          <a:prstGeom prst="rect">
            <a:avLst/>
          </a:prstGeom>
          <a:noFill/>
          <a:ln>
            <a:noFill/>
          </a:ln>
        </p:spPr>
        <p:txBody>
          <a:bodyPr spcFirstLastPara="1" wrap="square" lIns="91425" tIns="45700" rIns="91425" bIns="45700" anchor="t" anchorCtr="0">
            <a:spAutoFit/>
          </a:bodyPr>
          <a:lstStyle/>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Messages may be stored directly in databases</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Unauthorized users may intercept messages</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There is no passkey protection</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Spam and unwanted messages are common</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No intelligent monitoring for suspicious activities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8</a:t>
            </a:fld>
            <a:endParaRPr b="1">
              <a:solidFill>
                <a:schemeClr val="dk1"/>
              </a:solidFill>
            </a:endParaRPr>
          </a:p>
        </p:txBody>
      </p:sp>
      <p:sp>
        <p:nvSpPr>
          <p:cNvPr id="140" name="Google Shape;140;p20"/>
          <p:cNvSpPr txBox="1"/>
          <p:nvPr/>
        </p:nvSpPr>
        <p:spPr>
          <a:xfrm>
            <a:off x="-1" y="0"/>
            <a:ext cx="121920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PROPOSED SYSTEM ARCHITECTURE</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pic>
        <p:nvPicPr>
          <p:cNvPr id="7" name="Picture 6">
            <a:extLst>
              <a:ext uri="{FF2B5EF4-FFF2-40B4-BE49-F238E27FC236}">
                <a16:creationId xmlns:a16="http://schemas.microsoft.com/office/drawing/2014/main" id="{7F4ACF9C-82CF-8E89-B875-77BB1A0C3DA8}"/>
              </a:ext>
            </a:extLst>
          </p:cNvPr>
          <p:cNvPicPr>
            <a:picLocks noChangeAspect="1"/>
          </p:cNvPicPr>
          <p:nvPr/>
        </p:nvPicPr>
        <p:blipFill>
          <a:blip r:embed="rId3"/>
          <a:srcRect t="7248"/>
          <a:stretch>
            <a:fillRect/>
          </a:stretch>
        </p:blipFill>
        <p:spPr>
          <a:xfrm>
            <a:off x="952499" y="1062914"/>
            <a:ext cx="10287000" cy="52934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title"/>
          </p:nvPr>
        </p:nvSpPr>
        <p:spPr>
          <a:xfrm>
            <a:off x="0" y="0"/>
            <a:ext cx="12192000" cy="823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SOFTWARE AND HARDWARE REQUIREMENTS </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46" name="Google Shape;146;p21"/>
          <p:cNvSpPr txBox="1">
            <a:spLocks noGrp="1"/>
          </p:cNvSpPr>
          <p:nvPr>
            <p:ph type="body" idx="2"/>
          </p:nvPr>
        </p:nvSpPr>
        <p:spPr>
          <a:xfrm>
            <a:off x="265938" y="2671762"/>
            <a:ext cx="5157900" cy="368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latin typeface="Times New Roman" panose="02020603050405020304" pitchFamily="18" charset="0"/>
                <a:ea typeface="Arial Narrow"/>
                <a:cs typeface="Times New Roman" panose="02020603050405020304" pitchFamily="18" charset="0"/>
                <a:sym typeface="Arial Narrow"/>
              </a:rPr>
              <a:t>HARDWARE</a:t>
            </a:r>
            <a:endParaRPr dirty="0">
              <a:latin typeface="Times New Roman" panose="02020603050405020304" pitchFamily="18" charset="0"/>
              <a:ea typeface="Arial Narrow"/>
              <a:cs typeface="Times New Roman" panose="02020603050405020304" pitchFamily="18" charset="0"/>
              <a:sym typeface="Arial Narrow"/>
            </a:endParaRPr>
          </a:p>
          <a:p>
            <a:pPr marL="114300" indent="0">
              <a:lnSpc>
                <a:spcPct val="100000"/>
              </a:lnSpc>
              <a:buNone/>
            </a:pPr>
            <a:r>
              <a:rPr lang="en-US" dirty="0">
                <a:latin typeface="Arial Narrow"/>
                <a:ea typeface="Arial Narrow"/>
                <a:cs typeface="Arial Narrow"/>
                <a:sym typeface="Arial Narrow"/>
              </a:rPr>
              <a:t>1.</a:t>
            </a:r>
            <a:r>
              <a:rPr lang="en-IN" dirty="0">
                <a:latin typeface="Times New Roman" panose="02020603050405020304" pitchFamily="18" charset="0"/>
                <a:cs typeface="Times New Roman" panose="02020603050405020304" pitchFamily="18" charset="0"/>
              </a:rPr>
              <a:t> Processor : Intel Core i3 </a:t>
            </a:r>
          </a:p>
          <a:p>
            <a:pPr marL="114300" indent="0">
              <a:lnSpc>
                <a:spcPct val="100000"/>
              </a:lnSpc>
              <a:buNone/>
            </a:pPr>
            <a:r>
              <a:rPr lang="en-IN" dirty="0">
                <a:latin typeface="Times New Roman" panose="02020603050405020304" pitchFamily="18" charset="0"/>
                <a:cs typeface="Times New Roman" panose="02020603050405020304" pitchFamily="18" charset="0"/>
              </a:rPr>
              <a:t>2. RAM : 4 GB or above</a:t>
            </a:r>
          </a:p>
          <a:p>
            <a:pPr marL="114300" indent="0">
              <a:lnSpc>
                <a:spcPct val="100000"/>
              </a:lnSpc>
              <a:buNone/>
            </a:pPr>
            <a:r>
              <a:rPr lang="en-IN" dirty="0">
                <a:latin typeface="Times New Roman" panose="02020603050405020304" pitchFamily="18" charset="0"/>
                <a:cs typeface="Times New Roman" panose="02020603050405020304" pitchFamily="18" charset="0"/>
              </a:rPr>
              <a:t>3. Hard Disk : 500 GB</a:t>
            </a:r>
          </a:p>
        </p:txBody>
      </p:sp>
      <p:sp>
        <p:nvSpPr>
          <p:cNvPr id="147" name="Google Shape;147;p21"/>
          <p:cNvSpPr txBox="1">
            <a:spLocks noGrp="1"/>
          </p:cNvSpPr>
          <p:nvPr>
            <p:ph type="body" idx="4"/>
          </p:nvPr>
        </p:nvSpPr>
        <p:spPr>
          <a:xfrm>
            <a:off x="6479628" y="2539370"/>
            <a:ext cx="5641503" cy="381698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Font typeface="Arial"/>
              <a:buNone/>
            </a:pPr>
            <a:r>
              <a:rPr lang="en-US" b="1" dirty="0">
                <a:latin typeface="Times New Roman" panose="02020603050405020304" pitchFamily="18" charset="0"/>
                <a:ea typeface="Arial Narrow"/>
                <a:cs typeface="Times New Roman" panose="02020603050405020304" pitchFamily="18" charset="0"/>
                <a:sym typeface="Arial Narrow"/>
              </a:rPr>
              <a:t>SOFTWARE</a:t>
            </a:r>
            <a:endParaRPr b="1" dirty="0">
              <a:latin typeface="Times New Roman" panose="02020603050405020304" pitchFamily="18" charset="0"/>
              <a:ea typeface="Arial Narrow"/>
              <a:cs typeface="Times New Roman" panose="02020603050405020304" pitchFamily="18" charset="0"/>
              <a:sym typeface="Arial Narrow"/>
            </a:endParaRPr>
          </a:p>
          <a:p>
            <a:pPr marL="114300" indent="0">
              <a:lnSpc>
                <a:spcPct val="100000"/>
              </a:lnSpc>
              <a:buNone/>
            </a:pPr>
            <a:r>
              <a:rPr lang="en-IN" sz="2600" dirty="0">
                <a:latin typeface="Times New Roman" panose="02020603050405020304" pitchFamily="18" charset="0"/>
                <a:cs typeface="Times New Roman" panose="02020603050405020304" pitchFamily="18" charset="0"/>
              </a:rPr>
              <a:t>1. Operating System : Windows 10 </a:t>
            </a:r>
          </a:p>
          <a:p>
            <a:pPr marL="114300" indent="0">
              <a:lnSpc>
                <a:spcPct val="100000"/>
              </a:lnSpc>
              <a:buNone/>
            </a:pPr>
            <a:r>
              <a:rPr lang="en-IN" sz="2600" dirty="0">
                <a:latin typeface="Times New Roman" panose="02020603050405020304" pitchFamily="18" charset="0"/>
                <a:cs typeface="Times New Roman" panose="02020603050405020304" pitchFamily="18" charset="0"/>
              </a:rPr>
              <a:t>2. Programming Language : Python</a:t>
            </a:r>
          </a:p>
          <a:p>
            <a:pPr marL="114300" indent="0">
              <a:lnSpc>
                <a:spcPct val="100000"/>
              </a:lnSpc>
              <a:buNone/>
            </a:pPr>
            <a:r>
              <a:rPr lang="en-IN" sz="2600" dirty="0">
                <a:latin typeface="Times New Roman" panose="02020603050405020304" pitchFamily="18" charset="0"/>
                <a:cs typeface="Times New Roman" panose="02020603050405020304" pitchFamily="18" charset="0"/>
              </a:rPr>
              <a:t>3. Frontend : HTML, CSS, JavaScript</a:t>
            </a:r>
          </a:p>
          <a:p>
            <a:pPr marL="114300" indent="0">
              <a:lnSpc>
                <a:spcPct val="100000"/>
              </a:lnSpc>
              <a:buNone/>
            </a:pPr>
            <a:r>
              <a:rPr lang="en-IN" sz="2600" dirty="0">
                <a:latin typeface="Times New Roman" panose="02020603050405020304" pitchFamily="18" charset="0"/>
                <a:cs typeface="Times New Roman" panose="02020603050405020304" pitchFamily="18" charset="0"/>
              </a:rPr>
              <a:t>4. Backend : Flask / Django</a:t>
            </a:r>
          </a:p>
          <a:p>
            <a:pPr marL="114300" indent="0">
              <a:lnSpc>
                <a:spcPct val="100000"/>
              </a:lnSpc>
              <a:buNone/>
            </a:pPr>
            <a:r>
              <a:rPr lang="en-IN" sz="2600" dirty="0">
                <a:latin typeface="Times New Roman" panose="02020603050405020304" pitchFamily="18" charset="0"/>
                <a:cs typeface="Times New Roman" panose="02020603050405020304" pitchFamily="18" charset="0"/>
              </a:rPr>
              <a:t>5. Database : MySQL</a:t>
            </a:r>
          </a:p>
          <a:p>
            <a:pPr marL="114300" indent="0">
              <a:lnSpc>
                <a:spcPct val="100000"/>
              </a:lnSpc>
              <a:buNone/>
            </a:pPr>
            <a:r>
              <a:rPr lang="en-IN" sz="2600" dirty="0">
                <a:latin typeface="Times New Roman" panose="02020603050405020304" pitchFamily="18" charset="0"/>
                <a:cs typeface="Times New Roman" panose="02020603050405020304" pitchFamily="18" charset="0"/>
              </a:rPr>
              <a:t>6. ML Library : Scikit-learn</a:t>
            </a:r>
          </a:p>
          <a:p>
            <a:pPr marL="0" lvl="0" indent="0" algn="l" rtl="0">
              <a:lnSpc>
                <a:spcPct val="90000"/>
              </a:lnSpc>
              <a:spcBef>
                <a:spcPts val="0"/>
              </a:spcBef>
              <a:spcAft>
                <a:spcPts val="0"/>
              </a:spcAft>
              <a:buClr>
                <a:srgbClr val="FF0000"/>
              </a:buClr>
              <a:buSzPts val="2800"/>
              <a:buNone/>
            </a:pPr>
            <a:endParaRPr sz="2600" dirty="0">
              <a:latin typeface="Arial Narrow"/>
              <a:ea typeface="Arial Narrow"/>
              <a:cs typeface="Arial Narrow"/>
              <a:sym typeface="Arial Narrow"/>
            </a:endParaRPr>
          </a:p>
        </p:txBody>
      </p:sp>
      <p:sp>
        <p:nvSpPr>
          <p:cNvPr id="148" name="Google Shape;1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9</a:t>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title"/>
          </p:nvPr>
        </p:nvSpPr>
        <p:spPr>
          <a:xfrm>
            <a:off x="0" y="0"/>
            <a:ext cx="12192000" cy="618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MODULES </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54" name="Google Shape;154;p22"/>
          <p:cNvSpPr txBox="1">
            <a:spLocks noGrp="1"/>
          </p:cNvSpPr>
          <p:nvPr>
            <p:ph type="body" idx="1"/>
          </p:nvPr>
        </p:nvSpPr>
        <p:spPr>
          <a:xfrm>
            <a:off x="838200" y="1557611"/>
            <a:ext cx="10515600" cy="4351338"/>
          </a:xfrm>
          <a:prstGeom prst="rect">
            <a:avLst/>
          </a:prstGeom>
          <a:noFill/>
          <a:ln>
            <a:noFill/>
          </a:ln>
        </p:spPr>
        <p:txBody>
          <a:bodyPr spcFirstLastPara="1" wrap="square" lIns="91425" tIns="45700" rIns="91425" bIns="45700" anchor="t" anchorCtr="0">
            <a:normAutofit/>
          </a:bodyPr>
          <a:lstStyle/>
          <a:p>
            <a:pPr marL="114300" lvl="0" indent="0">
              <a:lnSpc>
                <a:spcPct val="150000"/>
              </a:lnSpc>
              <a:buNone/>
            </a:pPr>
            <a:r>
              <a:rPr lang="en-IN" dirty="0">
                <a:latin typeface="Times New Roman" panose="02020603050405020304" pitchFamily="18" charset="0"/>
                <a:cs typeface="Times New Roman" panose="02020603050405020304" pitchFamily="18" charset="0"/>
              </a:rPr>
              <a:t>1. User Registration and Login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2. Message Request and Acceptance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3. Message Encryption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4. Passkey Generation and Decryption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5. Database and Secret Key Management Module</a:t>
            </a:r>
          </a:p>
          <a:p>
            <a:pPr marL="0" lvl="0" indent="0" algn="l"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55" name="Google Shape;15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Times New Roman" panose="02020603050405020304" pitchFamily="18" charset="0"/>
                <a:cs typeface="Times New Roman" panose="02020603050405020304" pitchFamily="18" charset="0"/>
              </a:rPr>
              <a:t>USER REGISTRATION AND LOGIN MODULE</a:t>
            </a:r>
            <a:endParaRPr lang="en-US" b="1" dirty="0">
              <a:latin typeface="Arial Narrow"/>
              <a:ea typeface="Arial Narrow"/>
              <a:cs typeface="Arial Narrow"/>
              <a:sym typeface="Arial Narrow"/>
            </a:endParaRPr>
          </a:p>
        </p:txBody>
      </p:sp>
      <p:sp>
        <p:nvSpPr>
          <p:cNvPr id="161" name="Google Shape;161;p23"/>
          <p:cNvSpPr txBox="1">
            <a:spLocks noGrp="1"/>
          </p:cNvSpPr>
          <p:nvPr>
            <p:ph type="body" idx="1"/>
          </p:nvPr>
        </p:nvSpPr>
        <p:spPr>
          <a:xfrm>
            <a:off x="-8695" y="1156880"/>
            <a:ext cx="7812626" cy="5382032"/>
          </a:xfrm>
          <a:prstGeom prst="rect">
            <a:avLst/>
          </a:prstGeom>
          <a:noFill/>
          <a:ln>
            <a:noFill/>
          </a:ln>
        </p:spPr>
        <p:txBody>
          <a:bodyPr spcFirstLastPara="1" wrap="square" lIns="91425" tIns="45700" rIns="91425" bIns="45700" anchor="t" anchorCtr="0">
            <a:normAutofit fontScale="925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module is responsible for user    authentication and access control in the system.</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New users must first register by providing details such as username, email ID, and password. The system stores these details securely in the database.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After registration, users can log in using their credentials. This module ensures that unauthorized users cannot enter the platform.</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IN" dirty="0"/>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62" name="Google Shape;16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11</a:t>
            </a:fld>
            <a:endParaRPr b="1">
              <a:solidFill>
                <a:schemeClr val="dk1"/>
              </a:solidFill>
            </a:endParaRPr>
          </a:p>
        </p:txBody>
      </p:sp>
      <p:sp>
        <p:nvSpPr>
          <p:cNvPr id="163" name="Google Shape;163;p23"/>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 name="Google Shape;165;p23"/>
          <p:cNvSpPr txBox="1"/>
          <p:nvPr/>
        </p:nvSpPr>
        <p:spPr>
          <a:xfrm>
            <a:off x="8223600" y="606111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- 1</a:t>
            </a:r>
            <a:endParaRPr dirty="0"/>
          </a:p>
        </p:txBody>
      </p:sp>
      <p:pic>
        <p:nvPicPr>
          <p:cNvPr id="2" name="Picture 1">
            <a:extLst>
              <a:ext uri="{FF2B5EF4-FFF2-40B4-BE49-F238E27FC236}">
                <a16:creationId xmlns:a16="http://schemas.microsoft.com/office/drawing/2014/main" id="{B461BB48-40C3-8474-DC94-8B6CCECD5A70}"/>
              </a:ext>
            </a:extLst>
          </p:cNvPr>
          <p:cNvPicPr>
            <a:picLocks noChangeAspect="1"/>
          </p:cNvPicPr>
          <p:nvPr/>
        </p:nvPicPr>
        <p:blipFill>
          <a:blip r:embed="rId3"/>
          <a:stretch>
            <a:fillRect/>
          </a:stretch>
        </p:blipFill>
        <p:spPr>
          <a:xfrm>
            <a:off x="7782723" y="790065"/>
            <a:ext cx="4398954" cy="5271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0" y="318281"/>
            <a:ext cx="12192000" cy="574335"/>
          </a:xfrm>
          <a:prstGeom prst="rect">
            <a:avLst/>
          </a:prstGeom>
          <a:noFill/>
          <a:ln>
            <a:noFill/>
          </a:ln>
        </p:spPr>
        <p:txBody>
          <a:bodyPr spcFirstLastPara="1" wrap="square" lIns="91425" tIns="45700" rIns="91425" bIns="45700" anchor="ctr" anchorCtr="0">
            <a:noAutofit/>
          </a:bodyPr>
          <a:lstStyle/>
          <a:p>
            <a:pPr algn="ctr">
              <a:buSzPct val="100000"/>
            </a:pPr>
            <a:r>
              <a:rPr lang="en-IN" b="1" dirty="0">
                <a:latin typeface="Times New Roman" panose="02020603050405020304" pitchFamily="18" charset="0"/>
                <a:cs typeface="Times New Roman" panose="02020603050405020304" pitchFamily="18" charset="0"/>
              </a:rPr>
              <a:t>MESSAGE REQUEST AND ACCEPTANCE MODULE</a:t>
            </a:r>
            <a:endParaRPr lang="en-IN" b="1" dirty="0">
              <a:latin typeface="Arial Narrow"/>
              <a:ea typeface="Arial Narrow"/>
              <a:cs typeface="Arial Narrow"/>
              <a:sym typeface="Arial Narrow"/>
            </a:endParaRPr>
          </a:p>
        </p:txBody>
      </p:sp>
      <p:sp>
        <p:nvSpPr>
          <p:cNvPr id="171" name="Google Shape;171;p24"/>
          <p:cNvSpPr txBox="1">
            <a:spLocks noGrp="1"/>
          </p:cNvSpPr>
          <p:nvPr>
            <p:ph type="body" idx="1"/>
          </p:nvPr>
        </p:nvSpPr>
        <p:spPr>
          <a:xfrm>
            <a:off x="115860" y="1213945"/>
            <a:ext cx="7420058" cy="5188599"/>
          </a:xfrm>
          <a:prstGeom prst="rect">
            <a:avLst/>
          </a:prstGeom>
          <a:noFill/>
          <a:ln>
            <a:noFill/>
          </a:ln>
        </p:spPr>
        <p:txBody>
          <a:bodyPr spcFirstLastPara="1" wrap="square" lIns="91425" tIns="45700" rIns="91425" bIns="45700" anchor="t" anchorCtr="0">
            <a:noAutofit/>
          </a:bodyPr>
          <a:lstStyle/>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In this module, the sender sends a message request to the receiver before the actual message is delivered. </a:t>
            </a:r>
          </a:p>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The receiver will receive a notification about the request. The receiver must accept the request to start communication. </a:t>
            </a:r>
          </a:p>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If the receiver does not accept the request, the message will not be delivered. </a:t>
            </a:r>
          </a:p>
        </p:txBody>
      </p:sp>
      <p:sp>
        <p:nvSpPr>
          <p:cNvPr id="172" name="Google Shape;172;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12</a:t>
            </a:fld>
            <a:endParaRPr b="1">
              <a:solidFill>
                <a:schemeClr val="dk1"/>
              </a:solidFill>
            </a:endParaRPr>
          </a:p>
        </p:txBody>
      </p:sp>
      <p:sp>
        <p:nvSpPr>
          <p:cNvPr id="173" name="Google Shape;173;p2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 name="Google Shape;175;p24"/>
          <p:cNvSpPr txBox="1"/>
          <p:nvPr/>
        </p:nvSpPr>
        <p:spPr>
          <a:xfrm>
            <a:off x="8223599" y="625255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- 2</a:t>
            </a:r>
            <a:endParaRPr dirty="0"/>
          </a:p>
        </p:txBody>
      </p:sp>
      <p:pic>
        <p:nvPicPr>
          <p:cNvPr id="2" name="Picture 1">
            <a:extLst>
              <a:ext uri="{FF2B5EF4-FFF2-40B4-BE49-F238E27FC236}">
                <a16:creationId xmlns:a16="http://schemas.microsoft.com/office/drawing/2014/main" id="{CEC8A26D-7AF1-2291-5123-495492481233}"/>
              </a:ext>
            </a:extLst>
          </p:cNvPr>
          <p:cNvPicPr>
            <a:picLocks noChangeAspect="1"/>
          </p:cNvPicPr>
          <p:nvPr/>
        </p:nvPicPr>
        <p:blipFill>
          <a:blip r:embed="rId3"/>
          <a:stretch>
            <a:fillRect/>
          </a:stretch>
        </p:blipFill>
        <p:spPr>
          <a:xfrm>
            <a:off x="7535918" y="1213945"/>
            <a:ext cx="4540222" cy="2461260"/>
          </a:xfrm>
          <a:prstGeom prst="rect">
            <a:avLst/>
          </a:prstGeom>
        </p:spPr>
      </p:pic>
      <p:pic>
        <p:nvPicPr>
          <p:cNvPr id="3" name="Picture 2">
            <a:extLst>
              <a:ext uri="{FF2B5EF4-FFF2-40B4-BE49-F238E27FC236}">
                <a16:creationId xmlns:a16="http://schemas.microsoft.com/office/drawing/2014/main" id="{1F11A4CE-1D47-1AF3-1BB9-4502D4A116FF}"/>
              </a:ext>
            </a:extLst>
          </p:cNvPr>
          <p:cNvPicPr>
            <a:picLocks noChangeAspect="1"/>
          </p:cNvPicPr>
          <p:nvPr/>
        </p:nvPicPr>
        <p:blipFill>
          <a:blip r:embed="rId4"/>
          <a:srcRect l="12380" b="37210"/>
          <a:stretch>
            <a:fillRect/>
          </a:stretch>
        </p:blipFill>
        <p:spPr>
          <a:xfrm>
            <a:off x="7535917" y="3808245"/>
            <a:ext cx="4540223" cy="24443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algn="ctr">
              <a:buSzPct val="100000"/>
            </a:pPr>
            <a:r>
              <a:rPr lang="en-IN" b="1" dirty="0">
                <a:latin typeface="Times New Roman" panose="02020603050405020304" pitchFamily="18" charset="0"/>
                <a:cs typeface="Times New Roman" panose="02020603050405020304" pitchFamily="18" charset="0"/>
              </a:rPr>
              <a:t>MESSAGE ENCRYPTION MODULE</a:t>
            </a:r>
            <a:endParaRPr lang="en-IN" b="1" dirty="0">
              <a:latin typeface="Arial Narrow"/>
              <a:ea typeface="Arial Narrow"/>
              <a:cs typeface="Arial Narrow"/>
              <a:sym typeface="Arial Narrow"/>
            </a:endParaRPr>
          </a:p>
        </p:txBody>
      </p:sp>
      <p:sp>
        <p:nvSpPr>
          <p:cNvPr id="181" name="Google Shape;181;p25"/>
          <p:cNvSpPr txBox="1">
            <a:spLocks noGrp="1"/>
          </p:cNvSpPr>
          <p:nvPr>
            <p:ph type="body" idx="1"/>
          </p:nvPr>
        </p:nvSpPr>
        <p:spPr>
          <a:xfrm>
            <a:off x="0" y="1100999"/>
            <a:ext cx="7409793" cy="5362195"/>
          </a:xfrm>
          <a:prstGeom prst="rect">
            <a:avLst/>
          </a:prstGeom>
          <a:noFill/>
          <a:ln>
            <a:noFill/>
          </a:ln>
        </p:spPr>
        <p:txBody>
          <a:bodyPr spcFirstLastPara="1" wrap="square" lIns="91425" tIns="45700" rIns="91425" bIns="45700" anchor="t" anchorCtr="0">
            <a:normAutofit fontScale="92500" lnSpcReduction="200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The message encryption module ensures that messages are converted into a secure encrypted format before transmission.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When the sender sends a message, the system uses an encryption algorithm and a secret key to transform the original message into an encoded or unreadable form.</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encrypted message is then sent to the receiver. </a:t>
            </a:r>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82" name="Google Shape;182;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13</a:t>
            </a:fld>
            <a:endParaRPr b="1">
              <a:solidFill>
                <a:schemeClr val="dk1"/>
              </a:solidFill>
            </a:endParaRPr>
          </a:p>
        </p:txBody>
      </p:sp>
      <p:sp>
        <p:nvSpPr>
          <p:cNvPr id="183" name="Google Shape;183;p25"/>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5" name="Google Shape;185;p25"/>
          <p:cNvSpPr txBox="1"/>
          <p:nvPr/>
        </p:nvSpPr>
        <p:spPr>
          <a:xfrm>
            <a:off x="7953578" y="5924872"/>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- 3</a:t>
            </a:r>
            <a:endParaRPr dirty="0"/>
          </a:p>
        </p:txBody>
      </p:sp>
      <p:pic>
        <p:nvPicPr>
          <p:cNvPr id="2" name="Picture 1">
            <a:extLst>
              <a:ext uri="{FF2B5EF4-FFF2-40B4-BE49-F238E27FC236}">
                <a16:creationId xmlns:a16="http://schemas.microsoft.com/office/drawing/2014/main" id="{D5A72878-14F1-AF88-BA0F-16787FFF0BD1}"/>
              </a:ext>
            </a:extLst>
          </p:cNvPr>
          <p:cNvPicPr>
            <a:picLocks noChangeAspect="1"/>
          </p:cNvPicPr>
          <p:nvPr/>
        </p:nvPicPr>
        <p:blipFill>
          <a:blip r:embed="rId3"/>
          <a:stretch>
            <a:fillRect/>
          </a:stretch>
        </p:blipFill>
        <p:spPr>
          <a:xfrm>
            <a:off x="7409793" y="1083401"/>
            <a:ext cx="4604771" cy="467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6"/>
          <p:cNvSpPr txBox="1">
            <a:spLocks noGrp="1"/>
          </p:cNvSpPr>
          <p:nvPr>
            <p:ph type="title"/>
          </p:nvPr>
        </p:nvSpPr>
        <p:spPr>
          <a:xfrm>
            <a:off x="0" y="25097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kern="100" dirty="0">
                <a:latin typeface="Times New Roman" panose="02020603050405020304" pitchFamily="18" charset="0"/>
                <a:ea typeface="Calibri" panose="020F0502020204030204" pitchFamily="34" charset="0"/>
                <a:cs typeface="Times New Roman" panose="02020603050405020304" pitchFamily="18" charset="0"/>
              </a:rPr>
              <a:t>PASSKEY GENERATION AND DECRYPTION MODULE</a:t>
            </a:r>
            <a:endParaRPr b="1" dirty="0">
              <a:latin typeface="Arial Narrow"/>
              <a:ea typeface="Arial Narrow"/>
              <a:cs typeface="Arial Narrow"/>
              <a:sym typeface="Arial Narrow"/>
            </a:endParaRPr>
          </a:p>
        </p:txBody>
      </p:sp>
      <p:sp>
        <p:nvSpPr>
          <p:cNvPr id="191" name="Google Shape;191;p26"/>
          <p:cNvSpPr txBox="1">
            <a:spLocks noGrp="1"/>
          </p:cNvSpPr>
          <p:nvPr>
            <p:ph type="body" idx="1"/>
          </p:nvPr>
        </p:nvSpPr>
        <p:spPr>
          <a:xfrm>
            <a:off x="-3822" y="1169317"/>
            <a:ext cx="7656546" cy="5362194"/>
          </a:xfrm>
          <a:prstGeom prst="rect">
            <a:avLst/>
          </a:prstGeom>
          <a:noFill/>
          <a:ln>
            <a:noFill/>
          </a:ln>
        </p:spPr>
        <p:txBody>
          <a:bodyPr spcFirstLastPara="1" wrap="square" lIns="91425" tIns="45700" rIns="91425" bIns="45700" anchor="t" anchorCtr="0">
            <a:normAutofit fontScale="925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When the receiver receives the encrypted message, it will appear as a different or coded message.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To read the original message, the receiver must click on the encrypted message. The system will then generate a unique passkey.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After entering the correct passkey, the system decrypts the message and displays the original content. </a:t>
            </a:r>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92" name="Google Shape;192;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14</a:t>
            </a:fld>
            <a:endParaRPr b="1">
              <a:solidFill>
                <a:schemeClr val="dk1"/>
              </a:solidFill>
            </a:endParaRPr>
          </a:p>
        </p:txBody>
      </p:sp>
      <p:sp>
        <p:nvSpPr>
          <p:cNvPr id="193" name="Google Shape;193;p26"/>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5" name="Google Shape;195;p26"/>
          <p:cNvSpPr txBox="1"/>
          <p:nvPr/>
        </p:nvSpPr>
        <p:spPr>
          <a:xfrm>
            <a:off x="7973412" y="6034325"/>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- 4</a:t>
            </a:r>
            <a:endParaRPr dirty="0"/>
          </a:p>
        </p:txBody>
      </p:sp>
      <p:pic>
        <p:nvPicPr>
          <p:cNvPr id="2" name="Picture 1">
            <a:extLst>
              <a:ext uri="{FF2B5EF4-FFF2-40B4-BE49-F238E27FC236}">
                <a16:creationId xmlns:a16="http://schemas.microsoft.com/office/drawing/2014/main" id="{304B8DC2-96DA-C896-95DD-7E1286C8CFAA}"/>
              </a:ext>
            </a:extLst>
          </p:cNvPr>
          <p:cNvPicPr>
            <a:picLocks noChangeAspect="1"/>
          </p:cNvPicPr>
          <p:nvPr/>
        </p:nvPicPr>
        <p:blipFill>
          <a:blip r:embed="rId3"/>
          <a:stretch>
            <a:fillRect/>
          </a:stretch>
        </p:blipFill>
        <p:spPr>
          <a:xfrm>
            <a:off x="7652723" y="659656"/>
            <a:ext cx="4413957" cy="2588895"/>
          </a:xfrm>
          <a:prstGeom prst="rect">
            <a:avLst/>
          </a:prstGeom>
        </p:spPr>
      </p:pic>
      <p:pic>
        <p:nvPicPr>
          <p:cNvPr id="3" name="Picture 2">
            <a:extLst>
              <a:ext uri="{FF2B5EF4-FFF2-40B4-BE49-F238E27FC236}">
                <a16:creationId xmlns:a16="http://schemas.microsoft.com/office/drawing/2014/main" id="{9ADC7416-2A9A-4BB3-9836-DB499353522A}"/>
              </a:ext>
            </a:extLst>
          </p:cNvPr>
          <p:cNvPicPr>
            <a:picLocks noChangeAspect="1"/>
          </p:cNvPicPr>
          <p:nvPr/>
        </p:nvPicPr>
        <p:blipFill>
          <a:blip r:embed="rId4"/>
          <a:stretch>
            <a:fillRect/>
          </a:stretch>
        </p:blipFill>
        <p:spPr>
          <a:xfrm>
            <a:off x="7652722" y="3361090"/>
            <a:ext cx="4413957" cy="27089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0" y="274649"/>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kern="100" dirty="0">
                <a:latin typeface="Times New Roman" panose="02020603050405020304" pitchFamily="18" charset="0"/>
                <a:ea typeface="Calibri" panose="020F0502020204030204" pitchFamily="34" charset="0"/>
                <a:cs typeface="Times New Roman" panose="02020603050405020304" pitchFamily="18" charset="0"/>
              </a:rPr>
              <a:t>DATABASE AND SECRET KEY MANAGEMENT MODULE</a:t>
            </a:r>
            <a:endParaRPr b="1" dirty="0">
              <a:latin typeface="Arial Narrow"/>
              <a:ea typeface="Arial Narrow"/>
              <a:cs typeface="Arial Narrow"/>
              <a:sym typeface="Arial Narrow"/>
            </a:endParaRPr>
          </a:p>
        </p:txBody>
      </p:sp>
      <p:sp>
        <p:nvSpPr>
          <p:cNvPr id="201" name="Google Shape;201;p27"/>
          <p:cNvSpPr txBox="1">
            <a:spLocks noGrp="1"/>
          </p:cNvSpPr>
          <p:nvPr>
            <p:ph type="body" idx="1"/>
          </p:nvPr>
        </p:nvSpPr>
        <p:spPr>
          <a:xfrm>
            <a:off x="115859" y="1338597"/>
            <a:ext cx="7593479" cy="5244754"/>
          </a:xfrm>
          <a:prstGeom prst="rect">
            <a:avLst/>
          </a:prstGeom>
          <a:noFill/>
          <a:ln>
            <a:noFill/>
          </a:ln>
        </p:spPr>
        <p:txBody>
          <a:bodyPr spcFirstLastPara="1" wrap="square" lIns="91425" tIns="45700" rIns="91425" bIns="45700" anchor="t" anchorCtr="0">
            <a:normAutofit lnSpcReduction="100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module handles the storage and management of system data. User details, encrypted messages, and communication records are stored securely in a database.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Proper key management ensures that only authorized processes can access the encryption keys, thereby protecting the confidentiality and integrity of the stored data.</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marL="114300" indent="0" algn="just">
              <a:buNone/>
            </a:pPr>
            <a:endParaRPr lang="en-IN" dirty="0"/>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202" name="Google Shape;202;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15</a:t>
            </a:fld>
            <a:endParaRPr b="1">
              <a:solidFill>
                <a:schemeClr val="dk1"/>
              </a:solidFill>
            </a:endParaRPr>
          </a:p>
        </p:txBody>
      </p:sp>
      <p:sp>
        <p:nvSpPr>
          <p:cNvPr id="203" name="Google Shape;203;p27"/>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 name="Google Shape;205;p27"/>
          <p:cNvSpPr txBox="1"/>
          <p:nvPr/>
        </p:nvSpPr>
        <p:spPr>
          <a:xfrm>
            <a:off x="8223600" y="594768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- 5</a:t>
            </a:r>
            <a:endParaRPr dirty="0"/>
          </a:p>
        </p:txBody>
      </p:sp>
      <p:pic>
        <p:nvPicPr>
          <p:cNvPr id="2" name="Picture 1">
            <a:extLst>
              <a:ext uri="{FF2B5EF4-FFF2-40B4-BE49-F238E27FC236}">
                <a16:creationId xmlns:a16="http://schemas.microsoft.com/office/drawing/2014/main" id="{BA1CED3E-767B-6487-6A11-9D983263073C}"/>
              </a:ext>
            </a:extLst>
          </p:cNvPr>
          <p:cNvPicPr>
            <a:picLocks noChangeAspect="1"/>
          </p:cNvPicPr>
          <p:nvPr/>
        </p:nvPicPr>
        <p:blipFill>
          <a:blip r:embed="rId3"/>
          <a:stretch>
            <a:fillRect/>
          </a:stretch>
        </p:blipFill>
        <p:spPr>
          <a:xfrm>
            <a:off x="7709338" y="732155"/>
            <a:ext cx="4366803" cy="2696845"/>
          </a:xfrm>
          <a:prstGeom prst="rect">
            <a:avLst/>
          </a:prstGeom>
        </p:spPr>
      </p:pic>
      <p:pic>
        <p:nvPicPr>
          <p:cNvPr id="3" name="Picture 2">
            <a:extLst>
              <a:ext uri="{FF2B5EF4-FFF2-40B4-BE49-F238E27FC236}">
                <a16:creationId xmlns:a16="http://schemas.microsoft.com/office/drawing/2014/main" id="{92B7C768-76F2-279B-4822-BEDF3397A024}"/>
              </a:ext>
            </a:extLst>
          </p:cNvPr>
          <p:cNvPicPr>
            <a:picLocks noChangeAspect="1"/>
          </p:cNvPicPr>
          <p:nvPr/>
        </p:nvPicPr>
        <p:blipFill>
          <a:blip r:embed="rId4"/>
          <a:stretch>
            <a:fillRect/>
          </a:stretch>
        </p:blipFill>
        <p:spPr>
          <a:xfrm>
            <a:off x="7709338" y="3581400"/>
            <a:ext cx="4366803" cy="23033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CONCLUSION</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11" name="Google Shape;211;p28"/>
          <p:cNvSpPr txBox="1">
            <a:spLocks noGrp="1"/>
          </p:cNvSpPr>
          <p:nvPr>
            <p:ph type="body" idx="1"/>
          </p:nvPr>
        </p:nvSpPr>
        <p:spPr>
          <a:xfrm>
            <a:off x="551793" y="1198179"/>
            <a:ext cx="11177751" cy="5158171"/>
          </a:xfrm>
          <a:prstGeom prst="rect">
            <a:avLst/>
          </a:prstGeom>
          <a:noFill/>
          <a:ln>
            <a:noFill/>
          </a:ln>
        </p:spPr>
        <p:txBody>
          <a:bodyPr spcFirstLastPara="1" wrap="square" lIns="91425" tIns="45700" rIns="91425" bIns="45700" anchor="t" anchorCtr="0">
            <a:normAutofit fontScale="92500" lnSpcReduction="20000"/>
          </a:bodyPr>
          <a:lstStyle/>
          <a:p>
            <a:pPr indent="-457200" algn="just" eaLnBrk="0" fontAlgn="base" hangingPunct="0">
              <a:lnSpc>
                <a:spcPct val="17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project develops a secure encrypted messaging system for safe communication. It provides user authentication through registration and login. Messages are encrypted before transmission to ensure data privacy. The passkey-based decryption adds an extra layer of security.</a:t>
            </a:r>
          </a:p>
          <a:p>
            <a:pPr indent="-457200" algn="just" eaLnBrk="0" fontAlgn="base" hangingPunct="0">
              <a:lnSpc>
                <a:spcPct val="17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system helps to prevent unauthorized access to messages. Machine Learning is used to detect suspicious activities and spam messages. The system improves data confidentiality, integrity, and reliability. Overall, the proposed system provides a secure and intelligent messaging platform.</a:t>
            </a:r>
          </a:p>
          <a:p>
            <a:pPr marL="0" lvl="0" indent="0" algn="l" rtl="0">
              <a:lnSpc>
                <a:spcPct val="170000"/>
              </a:lnSpc>
              <a:spcBef>
                <a:spcPts val="0"/>
              </a:spcBef>
              <a:spcAft>
                <a:spcPts val="0"/>
              </a:spcAft>
              <a:buSzPts val="2800"/>
              <a:buNone/>
            </a:pPr>
            <a:endParaRPr dirty="0">
              <a:latin typeface="Arial Narrow"/>
              <a:ea typeface="Arial Narrow"/>
              <a:cs typeface="Arial Narrow"/>
              <a:sym typeface="Arial Narrow"/>
            </a:endParaRPr>
          </a:p>
        </p:txBody>
      </p:sp>
      <p:sp>
        <p:nvSpPr>
          <p:cNvPr id="212" name="Google Shape;21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dk1"/>
                </a:solidFill>
              </a:rPr>
              <a:t>16</a:t>
            </a:fld>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b="1" dirty="0">
                <a:latin typeface="Times New Roman" panose="02020603050405020304" pitchFamily="18" charset="0"/>
                <a:ea typeface="Arial Narrow"/>
                <a:cs typeface="Times New Roman" panose="02020603050405020304" pitchFamily="18" charset="0"/>
                <a:sym typeface="Arial Narrow"/>
              </a:rPr>
              <a:t>FUTURE ENHANCEMENTS </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18" name="Google Shape;218;p29"/>
          <p:cNvSpPr txBox="1">
            <a:spLocks noGrp="1"/>
          </p:cNvSpPr>
          <p:nvPr>
            <p:ph type="body" idx="1"/>
          </p:nvPr>
        </p:nvSpPr>
        <p:spPr>
          <a:xfrm>
            <a:off x="838200" y="1600200"/>
            <a:ext cx="10515600" cy="3657600"/>
          </a:xfrm>
          <a:prstGeom prst="rect">
            <a:avLst/>
          </a:prstGeom>
          <a:noFill/>
          <a:ln>
            <a:noFill/>
          </a:ln>
        </p:spPr>
        <p:txBody>
          <a:bodyPr spcFirstLastPara="1" wrap="square" lIns="91425" tIns="45700" rIns="91425" bIns="45700" anchor="t" anchorCtr="0">
            <a:normAutofit/>
          </a:bodyPr>
          <a:lstStyle/>
          <a:p>
            <a:pPr lvl="0" indent="-457200" algn="just" eaLnBrk="0" fontAlgn="base" hangingPunct="0">
              <a:lnSpc>
                <a:spcPct val="15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Develop a mobile application version (Android/iOS) for easier access. Add multi-factor authentication (OTP or biometric) for better user verification. </a:t>
            </a:r>
          </a:p>
          <a:p>
            <a:pPr lvl="0" indent="-457200" algn="just" eaLnBrk="0" fontAlgn="base" hangingPunct="0">
              <a:lnSpc>
                <a:spcPct val="15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Add real-time notifications and message status indicators. Improve the user interface for better user experience.</a:t>
            </a:r>
          </a:p>
        </p:txBody>
      </p:sp>
      <p:sp>
        <p:nvSpPr>
          <p:cNvPr id="219" name="Google Shape;21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dk1"/>
                </a:solidFill>
              </a:rPr>
              <a:t>17</a:t>
            </a:fld>
            <a:endParaRPr>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1024</Words>
  <Application>Microsoft Office PowerPoint</Application>
  <PresentationFormat>Widescreen</PresentationFormat>
  <Paragraphs>124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Times New Roman</vt:lpstr>
      <vt:lpstr>Calibri</vt:lpstr>
      <vt:lpstr>Arial</vt:lpstr>
      <vt:lpstr>Arial Narrow</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USER REGISTRATION AND LOGIN MODULE</vt:lpstr>
      <vt:lpstr>MESSAGE REQUEST AND ACCEPTANCE MODULE</vt:lpstr>
      <vt:lpstr>MESSAGE ENCRYPTION MODULE</vt:lpstr>
      <vt:lpstr>PASSKEY GENERATION AND DECRYPTION MODULE</vt:lpstr>
      <vt:lpstr>DATABASE AND SECRET KEY MANAGEMENT MODULE</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acer</dc:creator>
  <cp:lastModifiedBy>S0394263</cp:lastModifiedBy>
  <cp:revision>4</cp:revision>
  <dcterms:modified xsi:type="dcterms:W3CDTF">2026-03-29T13:20:23Z</dcterms:modified>
</cp:coreProperties>
</file>